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63" r:id="rId3"/>
    <p:sldId id="269" r:id="rId4"/>
    <p:sldId id="264" r:id="rId5"/>
    <p:sldId id="445" r:id="rId6"/>
    <p:sldId id="265" r:id="rId7"/>
    <p:sldId id="270" r:id="rId8"/>
    <p:sldId id="266" r:id="rId9"/>
    <p:sldId id="446" r:id="rId10"/>
    <p:sldId id="447" r:id="rId11"/>
    <p:sldId id="448" r:id="rId12"/>
    <p:sldId id="449" r:id="rId13"/>
    <p:sldId id="45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/>
          <a:srcRect l="387" t="1" r="-1" b="1130"/>
          <a:stretch/>
        </p:blipFill>
        <p:spPr>
          <a:xfrm>
            <a:off x="2" y="1"/>
            <a:ext cx="12207805" cy="68665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4300483"/>
            <a:ext cx="8534400" cy="1338317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13D5-1686-454A-92B1-3A012081E1FE}" type="datetimeFigureOut">
              <a:rPr lang="es-MX" smtClean="0"/>
              <a:t>13/05/2020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99C-B4B6-4E35-8AED-54AB3F66A6E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4329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13D5-1686-454A-92B1-3A012081E1FE}" type="datetimeFigureOut">
              <a:rPr lang="es-MX" smtClean="0"/>
              <a:t>13/05/2020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99C-B4B6-4E35-8AED-54AB3F66A6E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6646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13D5-1686-454A-92B1-3A012081E1FE}" type="datetimeFigureOut">
              <a:rPr lang="es-MX" smtClean="0"/>
              <a:t>13/05/2020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99C-B4B6-4E35-8AED-54AB3F66A6E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2117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13D5-1686-454A-92B1-3A012081E1FE}" type="datetimeFigureOut">
              <a:rPr lang="es-MX" smtClean="0"/>
              <a:t>13/05/2020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99C-B4B6-4E35-8AED-54AB3F66A6E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976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13D5-1686-454A-92B1-3A012081E1FE}" type="datetimeFigureOut">
              <a:rPr lang="es-MX" smtClean="0"/>
              <a:t>13/05/2020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99C-B4B6-4E35-8AED-54AB3F66A6E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17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13D5-1686-454A-92B1-3A012081E1FE}" type="datetimeFigureOut">
              <a:rPr lang="es-MX" smtClean="0"/>
              <a:t>13/05/2020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99C-B4B6-4E35-8AED-54AB3F66A6E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170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13D5-1686-454A-92B1-3A012081E1FE}" type="datetimeFigureOut">
              <a:rPr lang="es-MX" smtClean="0"/>
              <a:t>13/05/2020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99C-B4B6-4E35-8AED-54AB3F66A6E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956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143510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66733" y="1435101"/>
            <a:ext cx="6815667" cy="46910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09601" y="2597151"/>
            <a:ext cx="4011084" cy="35290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13D5-1686-454A-92B1-3A012081E1FE}" type="datetimeFigureOut">
              <a:rPr lang="es-MX" smtClean="0"/>
              <a:t>13/05/2020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99C-B4B6-4E35-8AED-54AB3F66A6E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1292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200" y="4985124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711200" y="1553686"/>
            <a:ext cx="7315200" cy="3431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00683" y="1553687"/>
            <a:ext cx="3658932" cy="317388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13D5-1686-454A-92B1-3A012081E1FE}" type="datetimeFigureOut">
              <a:rPr lang="es-MX" smtClean="0"/>
              <a:t>13/05/2020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99C-B4B6-4E35-8AED-54AB3F66A6E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120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13D5-1686-454A-92B1-3A012081E1FE}" type="datetimeFigureOut">
              <a:rPr lang="es-MX" smtClean="0"/>
              <a:t>13/05/2020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99C-B4B6-4E35-8AED-54AB3F66A6E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504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1374427"/>
            <a:ext cx="2743200" cy="475173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374427"/>
            <a:ext cx="8026400" cy="4751736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13D5-1686-454A-92B1-3A012081E1FE}" type="datetimeFigureOut">
              <a:rPr lang="es-MX" smtClean="0"/>
              <a:t>13/05/2020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99C-B4B6-4E35-8AED-54AB3F66A6E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6093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3454400" y="274639"/>
            <a:ext cx="8128000" cy="782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013D5-1686-454A-92B1-3A012081E1FE}" type="datetimeFigureOut">
              <a:rPr lang="es-MX" smtClean="0"/>
              <a:t>13/05/2020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C099C-B4B6-4E35-8AED-54AB3F66A6E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9917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8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0.tm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f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journals.sagepub.com/doi/full/10.1177/014920631667948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3400" y="2116646"/>
            <a:ext cx="8024091" cy="1932840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Invarianza factorial</a:t>
            </a:r>
            <a:br>
              <a:rPr lang="es-MX" b="1" dirty="0"/>
            </a:br>
            <a:r>
              <a:rPr lang="es-MX" b="1" dirty="0"/>
              <a:t>Recordatorio… y puente a </a:t>
            </a:r>
            <a:r>
              <a:rPr lang="es-MX" b="1"/>
              <a:t>lo práctico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895600" y="4480097"/>
            <a:ext cx="6400800" cy="1338317"/>
          </a:xfrm>
        </p:spPr>
        <p:txBody>
          <a:bodyPr/>
          <a:lstStyle/>
          <a:p>
            <a:r>
              <a:rPr lang="es-MX" dirty="0"/>
              <a:t>Dr. Curtis </a:t>
            </a:r>
            <a:r>
              <a:rPr lang="es-MX" dirty="0" err="1"/>
              <a:t>Huffman</a:t>
            </a:r>
            <a:endParaRPr lang="es-MX" dirty="0"/>
          </a:p>
          <a:p>
            <a:r>
              <a:rPr lang="es-MX" dirty="0"/>
              <a:t>Dr. Héctor Nájera</a:t>
            </a:r>
          </a:p>
          <a:p>
            <a:endParaRPr lang="es-MX" dirty="0"/>
          </a:p>
          <a:p>
            <a:endParaRPr lang="es-ES" dirty="0"/>
          </a:p>
        </p:txBody>
      </p:sp>
      <p:grpSp>
        <p:nvGrpSpPr>
          <p:cNvPr id="4" name="Grupo 3"/>
          <p:cNvGrpSpPr/>
          <p:nvPr/>
        </p:nvGrpSpPr>
        <p:grpSpPr>
          <a:xfrm>
            <a:off x="3356101" y="313620"/>
            <a:ext cx="3842080" cy="1223823"/>
            <a:chOff x="3116137" y="270503"/>
            <a:chExt cx="3842080" cy="1223823"/>
          </a:xfrm>
        </p:grpSpPr>
        <p:pic>
          <p:nvPicPr>
            <p:cNvPr id="5" name="Picture 14" descr="Resultado de imagen para economia unam"/>
            <p:cNvPicPr>
              <a:picLocks noChangeAspect="1" noChangeArrowheads="1"/>
            </p:cNvPicPr>
            <p:nvPr/>
          </p:nvPicPr>
          <p:blipFill>
            <a:blip r:embed="rId2" cstate="hq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4751" y="270503"/>
              <a:ext cx="953466" cy="1124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16" descr="Resultado de imagen para posgrado unam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detail="6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120"/>
            <a:stretch/>
          </p:blipFill>
          <p:spPr bwMode="auto">
            <a:xfrm>
              <a:off x="3116137" y="270503"/>
              <a:ext cx="2769345" cy="12238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4" descr="Imagen relacionada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5477" y="5638799"/>
            <a:ext cx="1463040" cy="1253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4150AD6-EB43-4BB1-B278-FBE4244CF2AD}"/>
              </a:ext>
            </a:extLst>
          </p:cNvPr>
          <p:cNvSpPr txBox="1"/>
          <p:nvPr/>
        </p:nvSpPr>
        <p:spPr>
          <a:xfrm>
            <a:off x="831630" y="6034667"/>
            <a:ext cx="5526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/>
              <a:t>Sesión virtual desde casa, mayo 13 de 2020</a:t>
            </a:r>
          </a:p>
        </p:txBody>
      </p:sp>
    </p:spTree>
    <p:extLst>
      <p:ext uri="{BB962C8B-B14F-4D97-AF65-F5344CB8AC3E}">
        <p14:creationId xmlns:p14="http://schemas.microsoft.com/office/powerpoint/2010/main" val="409956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Intuición al concepto de invarianza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</a:t>
            </a:r>
            <a:r>
              <a:rPr dirty="0" err="1"/>
              <a:t>enemos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Una </a:t>
            </a:r>
            <a:r>
              <a:rPr dirty="0" err="1"/>
              <a:t>medida</a:t>
            </a:r>
            <a:r>
              <a:rPr dirty="0"/>
              <a:t> unidimensional de </a:t>
            </a:r>
            <a:r>
              <a:rPr u="sng" dirty="0"/>
              <a:t>15 </a:t>
            </a:r>
            <a:r>
              <a:rPr u="sng" dirty="0" err="1"/>
              <a:t>indicadores</a:t>
            </a:r>
            <a:r>
              <a:rPr u="sng" dirty="0"/>
              <a:t> </a:t>
            </a:r>
            <a:r>
              <a:rPr dirty="0"/>
              <a:t>y </a:t>
            </a:r>
            <a:r>
              <a:rPr dirty="0" err="1"/>
              <a:t>queremos</a:t>
            </a:r>
            <a:r>
              <a:rPr dirty="0"/>
              <a:t> saber </a:t>
            </a:r>
            <a:r>
              <a:rPr dirty="0" err="1"/>
              <a:t>si</a:t>
            </a:r>
            <a:r>
              <a:rPr dirty="0"/>
              <a:t> los scores son </a:t>
            </a:r>
            <a:r>
              <a:rPr dirty="0" err="1"/>
              <a:t>comparables</a:t>
            </a:r>
            <a:r>
              <a:rPr dirty="0"/>
              <a:t> a lo largo de </a:t>
            </a:r>
            <a:r>
              <a:rPr u="sng" dirty="0"/>
              <a:t>20 </a:t>
            </a:r>
            <a:r>
              <a:rPr u="sng" dirty="0" err="1"/>
              <a:t>estados</a:t>
            </a:r>
            <a:r>
              <a:rPr u="sng" dirty="0"/>
              <a:t> </a:t>
            </a:r>
            <a:r>
              <a:rPr dirty="0"/>
              <a:t>de un </a:t>
            </a:r>
            <a:r>
              <a:rPr dirty="0" err="1"/>
              <a:t>país</a:t>
            </a:r>
            <a:r>
              <a:rPr dirty="0"/>
              <a:t>. </a:t>
            </a:r>
            <a:endParaRPr lang="en-GB" dirty="0"/>
          </a:p>
          <a:p>
            <a:pPr marL="0" indent="0">
              <a:buNone/>
            </a:pPr>
            <a:r>
              <a:rPr dirty="0"/>
              <a:t>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adoptado</a:t>
            </a:r>
            <a:r>
              <a:rPr dirty="0"/>
              <a:t> es un </a:t>
            </a: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Teoría</a:t>
            </a:r>
            <a:r>
              <a:rPr dirty="0"/>
              <a:t> de Respuesta al </a:t>
            </a:r>
            <a:r>
              <a:rPr dirty="0" err="1"/>
              <a:t>Ítem</a:t>
            </a:r>
            <a:r>
              <a:rPr dirty="0"/>
              <a:t> de dos </a:t>
            </a:r>
            <a:r>
              <a:rPr dirty="0" err="1"/>
              <a:t>parámetros</a:t>
            </a:r>
            <a:r>
              <a:rPr dirty="0"/>
              <a:t>. </a:t>
            </a:r>
            <a:endParaRPr lang="en-GB" dirty="0"/>
          </a:p>
          <a:p>
            <a:pPr marL="0" indent="0">
              <a:buNone/>
            </a:pPr>
            <a:r>
              <a:rPr dirty="0" err="1"/>
              <a:t>Qué</a:t>
            </a:r>
            <a:r>
              <a:rPr dirty="0"/>
              <a:t> es lo primero que </a:t>
            </a:r>
            <a:r>
              <a:rPr dirty="0" err="1"/>
              <a:t>harían</a:t>
            </a:r>
            <a:r>
              <a:rPr dirty="0"/>
              <a:t>?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Pro tip: Lo que uno </a:t>
            </a:r>
            <a:r>
              <a:rPr lang="en-GB" dirty="0" err="1"/>
              <a:t>compara</a:t>
            </a:r>
            <a:r>
              <a:rPr lang="en-GB" dirty="0"/>
              <a:t> son los </a:t>
            </a:r>
            <a:r>
              <a:rPr lang="en-GB" dirty="0" err="1"/>
              <a:t>parámetros</a:t>
            </a:r>
            <a:r>
              <a:rPr lang="en-GB" dirty="0"/>
              <a:t> (el </a:t>
            </a:r>
            <a:r>
              <a:rPr lang="en-GB" dirty="0" err="1"/>
              <a:t>modelo</a:t>
            </a:r>
            <a:r>
              <a:rPr lang="en-GB" dirty="0"/>
              <a:t>) no los </a:t>
            </a:r>
            <a:r>
              <a:rPr lang="en-GB" dirty="0" err="1"/>
              <a:t>indicadores</a:t>
            </a:r>
            <a:r>
              <a:rPr lang="en-GB" dirty="0"/>
              <a:t>!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Comparabilidad en la teoría de la medición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Tengo 20 </a:t>
            </a:r>
            <a:r>
              <a:rPr lang="en-GB" dirty="0" err="1"/>
              <a:t>grupos</a:t>
            </a:r>
            <a:r>
              <a:rPr lang="en-GB" dirty="0"/>
              <a:t>, </a:t>
            </a:r>
            <a:r>
              <a:rPr lang="en-GB" dirty="0" err="1"/>
              <a:t>entonces</a:t>
            </a:r>
            <a:r>
              <a:rPr lang="en-GB" dirty="0"/>
              <a:t> (?)</a:t>
            </a:r>
            <a:endParaRPr dirty="0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299A8A6B-5D04-4397-A807-4A1D2B3E8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577" y="2260447"/>
            <a:ext cx="1707493" cy="1729496"/>
          </a:xfrm>
          <a:prstGeom prst="rect">
            <a:avLst/>
          </a:prstGeom>
        </p:spPr>
      </p:pic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32D26FA-B0A3-43B6-BE94-B1A88C395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605" y="2141168"/>
            <a:ext cx="1770236" cy="17930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9C5367-6795-480F-837C-F0772B4046DE}"/>
              </a:ext>
            </a:extLst>
          </p:cNvPr>
          <p:cNvSpPr txBox="1"/>
          <p:nvPr/>
        </p:nvSpPr>
        <p:spPr>
          <a:xfrm>
            <a:off x="4104285" y="2390253"/>
            <a:ext cx="2863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/>
              <a:t>=</a:t>
            </a:r>
          </a:p>
          <a:p>
            <a:r>
              <a:rPr lang="es-MX" sz="4400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D3136A-831A-45E1-A4FE-0599C39E9AF2}"/>
              </a:ext>
            </a:extLst>
          </p:cNvPr>
          <p:cNvSpPr txBox="1"/>
          <p:nvPr/>
        </p:nvSpPr>
        <p:spPr>
          <a:xfrm>
            <a:off x="6491681" y="2314417"/>
            <a:ext cx="2863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/>
              <a:t>=</a:t>
            </a:r>
          </a:p>
          <a:p>
            <a:r>
              <a:rPr lang="es-MX" sz="4400" dirty="0"/>
              <a:t>?</a:t>
            </a: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9D60BD0F-22FF-46A4-9E41-637CBC998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010" y="2141168"/>
            <a:ext cx="1770236" cy="17930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41DFBD-1455-4489-9E5C-3F3EACA015D2}"/>
              </a:ext>
            </a:extLst>
          </p:cNvPr>
          <p:cNvSpPr txBox="1"/>
          <p:nvPr/>
        </p:nvSpPr>
        <p:spPr>
          <a:xfrm>
            <a:off x="5354090" y="3516412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000" dirty="0"/>
              <a:t>…</a:t>
            </a:r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FEB6A4-42F1-4C95-8870-BF94FDA1B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775" y="4845738"/>
            <a:ext cx="1707493" cy="1729496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30895C94-805F-48E3-8A50-27239E39C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803" y="4726459"/>
            <a:ext cx="1770236" cy="17930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ED6A04-3CCE-45C0-A7D0-16F3919C3DEB}"/>
              </a:ext>
            </a:extLst>
          </p:cNvPr>
          <p:cNvSpPr txBox="1"/>
          <p:nvPr/>
        </p:nvSpPr>
        <p:spPr>
          <a:xfrm>
            <a:off x="4416483" y="4975544"/>
            <a:ext cx="2863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/>
              <a:t>=</a:t>
            </a:r>
          </a:p>
          <a:p>
            <a:r>
              <a:rPr lang="es-MX" sz="4400" dirty="0"/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F7BC88-FEA6-4B4D-8F6D-7DCAE91EC1BC}"/>
              </a:ext>
            </a:extLst>
          </p:cNvPr>
          <p:cNvSpPr txBox="1"/>
          <p:nvPr/>
        </p:nvSpPr>
        <p:spPr>
          <a:xfrm>
            <a:off x="6803879" y="4899708"/>
            <a:ext cx="2863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/>
              <a:t>=</a:t>
            </a:r>
          </a:p>
          <a:p>
            <a:r>
              <a:rPr lang="es-MX" sz="4400" dirty="0"/>
              <a:t>?</a:t>
            </a:r>
          </a:p>
        </p:txBody>
      </p:sp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CE8964AB-8219-4C4F-A042-B3FAFDDDE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208" y="4726459"/>
            <a:ext cx="1770236" cy="179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441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Exploración</a:t>
            </a:r>
            <a:r>
              <a:rPr dirty="0"/>
              <a:t> de la </a:t>
            </a:r>
            <a:r>
              <a:rPr dirty="0" err="1"/>
              <a:t>posible</a:t>
            </a:r>
            <a:r>
              <a:rPr dirty="0"/>
              <a:t> </a:t>
            </a:r>
            <a:r>
              <a:rPr dirty="0" err="1"/>
              <a:t>compara</a:t>
            </a:r>
            <a:r>
              <a:rPr lang="en-GB" dirty="0" err="1"/>
              <a:t>bilidad</a:t>
            </a:r>
            <a:r>
              <a:rPr lang="en-GB" dirty="0"/>
              <a:t> de los </a:t>
            </a:r>
            <a:r>
              <a:rPr lang="en-GB" dirty="0" err="1"/>
              <a:t>parámetros</a:t>
            </a:r>
            <a:r>
              <a:rPr dirty="0"/>
              <a:t>:</a:t>
            </a:r>
          </a:p>
        </p:txBody>
      </p:sp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3730D443-3F62-45E6-AB86-52B84B7E9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500" y="2461335"/>
            <a:ext cx="4355275" cy="3071674"/>
          </a:xfrm>
          <a:prstGeom prst="rect">
            <a:avLst/>
          </a:prstGeom>
        </p:spPr>
      </p:pic>
      <p:pic>
        <p:nvPicPr>
          <p:cNvPr id="8" name="Picture 7" descr="A close up of a map&#10;&#10;Description automatically generated">
            <a:extLst>
              <a:ext uri="{FF2B5EF4-FFF2-40B4-BE49-F238E27FC236}">
                <a16:creationId xmlns:a16="http://schemas.microsoft.com/office/drawing/2014/main" id="{13DD547F-91CB-4CC5-9088-363D1B2E8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867" y="2461335"/>
            <a:ext cx="4491634" cy="3191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BDF030-9446-4263-880E-77079174BECE}"/>
              </a:ext>
            </a:extLst>
          </p:cNvPr>
          <p:cNvSpPr txBox="1"/>
          <p:nvPr/>
        </p:nvSpPr>
        <p:spPr>
          <a:xfrm>
            <a:off x="6673050" y="5868140"/>
            <a:ext cx="3187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la mitad de los grupos 4 el parámetro de discriminación es  muy distinto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20D935-36C3-4121-B4F4-AE87E4CEDD09}"/>
              </a:ext>
            </a:extLst>
          </p:cNvPr>
          <p:cNvSpPr txBox="1"/>
          <p:nvPr/>
        </p:nvSpPr>
        <p:spPr>
          <a:xfrm>
            <a:off x="1981201" y="5759166"/>
            <a:ext cx="3187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Hay variación pero son similares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858C87-D180-4D2E-9295-A0B1796FC5EF}"/>
              </a:ext>
            </a:extLst>
          </p:cNvPr>
          <p:cNvSpPr txBox="1"/>
          <p:nvPr/>
        </p:nvSpPr>
        <p:spPr>
          <a:xfrm>
            <a:off x="2056660" y="6427433"/>
            <a:ext cx="3604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Fuente: Najera et al., </a:t>
            </a:r>
            <a:r>
              <a:rPr lang="es-MX" dirty="0" err="1"/>
              <a:t>Forthcoming</a:t>
            </a:r>
            <a:endParaRPr lang="es-MX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 err="1"/>
              <a:t>Exploración</a:t>
            </a:r>
            <a:r>
              <a:rPr b="1" dirty="0"/>
              <a:t> de</a:t>
            </a:r>
            <a:r>
              <a:rPr lang="en-GB" b="1" dirty="0"/>
              <a:t>l </a:t>
            </a:r>
            <a:r>
              <a:rPr lang="en-GB" b="1" dirty="0" err="1"/>
              <a:t>grado</a:t>
            </a:r>
            <a:r>
              <a:rPr lang="en-GB" b="1" dirty="0"/>
              <a:t> de </a:t>
            </a:r>
            <a:r>
              <a:rPr lang="en-GB" b="1" dirty="0" err="1"/>
              <a:t>comparabildiad</a:t>
            </a:r>
            <a:r>
              <a:rPr lang="en-GB" b="1" dirty="0"/>
              <a:t> de los </a:t>
            </a:r>
            <a:r>
              <a:rPr lang="en-GB" b="1" dirty="0" err="1"/>
              <a:t>parámetros</a:t>
            </a:r>
            <a:r>
              <a:rPr b="1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BDF030-9446-4263-880E-77079174BECE}"/>
              </a:ext>
            </a:extLst>
          </p:cNvPr>
          <p:cNvSpPr txBox="1"/>
          <p:nvPr/>
        </p:nvSpPr>
        <p:spPr>
          <a:xfrm>
            <a:off x="6673050" y="5660032"/>
            <a:ext cx="3187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la mitad de los grupos 4 el parámetro de severidad es  muy distinto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20D935-36C3-4121-B4F4-AE87E4CEDD09}"/>
              </a:ext>
            </a:extLst>
          </p:cNvPr>
          <p:cNvSpPr txBox="1"/>
          <p:nvPr/>
        </p:nvSpPr>
        <p:spPr>
          <a:xfrm>
            <a:off x="1981201" y="5759167"/>
            <a:ext cx="3187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El parámetro de severidad, es casi igual entre grupos.</a:t>
            </a:r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BFC499C3-CDA7-4296-9384-73F678046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990" y="1953087"/>
            <a:ext cx="4206187" cy="3408180"/>
          </a:xfrm>
          <a:prstGeom prst="rect">
            <a:avLst/>
          </a:prstGeom>
        </p:spPr>
      </p:pic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D2B9B6A4-B938-4260-B42E-45014D201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597" y="1953088"/>
            <a:ext cx="4430414" cy="34920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7CD028-5261-43C3-A8D2-DDEE9F37F005}"/>
              </a:ext>
            </a:extLst>
          </p:cNvPr>
          <p:cNvSpPr txBox="1"/>
          <p:nvPr/>
        </p:nvSpPr>
        <p:spPr>
          <a:xfrm>
            <a:off x="2056660" y="6427433"/>
            <a:ext cx="3604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Fuente: Najera et al., </a:t>
            </a:r>
            <a:r>
              <a:rPr lang="es-MX" dirty="0" err="1"/>
              <a:t>Forthcoming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1223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Método para el análisis formal de invarianza: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Análisis</a:t>
            </a:r>
            <a:r>
              <a:rPr dirty="0"/>
              <a:t> factorial de </a:t>
            </a:r>
            <a:r>
              <a:rPr dirty="0" err="1"/>
              <a:t>grupos</a:t>
            </a:r>
            <a:r>
              <a:rPr dirty="0"/>
              <a:t> (Multiple group factor analysis):</a:t>
            </a:r>
            <a:endParaRPr lang="en-GB" dirty="0"/>
          </a:p>
          <a:p>
            <a:pPr marL="0" indent="0">
              <a:buNone/>
            </a:pPr>
            <a:r>
              <a:rPr dirty="0"/>
              <a:t>Paso 1: Es la </a:t>
            </a:r>
            <a:r>
              <a:rPr dirty="0" err="1"/>
              <a:t>estructura</a:t>
            </a:r>
            <a:r>
              <a:rPr dirty="0"/>
              <a:t> similar entre </a:t>
            </a:r>
            <a:r>
              <a:rPr dirty="0" err="1"/>
              <a:t>grupos</a:t>
            </a:r>
            <a:r>
              <a:rPr dirty="0"/>
              <a:t>? (Configural)</a:t>
            </a:r>
            <a:r>
              <a:rPr lang="en-GB" dirty="0"/>
              <a:t> </a:t>
            </a:r>
          </a:p>
          <a:p>
            <a:pPr marL="457200" lvl="1" indent="0">
              <a:buNone/>
            </a:pPr>
            <a:r>
              <a:rPr lang="en-GB" dirty="0"/>
              <a:t>i.e. el </a:t>
            </a:r>
            <a:r>
              <a:rPr lang="en-GB" dirty="0" err="1"/>
              <a:t>ajuste</a:t>
            </a:r>
            <a:r>
              <a:rPr lang="en-GB" dirty="0"/>
              <a:t> global (TLI, CFI, etc.) es similar del </a:t>
            </a:r>
            <a:r>
              <a:rPr lang="en-GB" dirty="0" err="1"/>
              <a:t>modelo</a:t>
            </a:r>
            <a:r>
              <a:rPr lang="en-GB" dirty="0"/>
              <a:t> A vs el B (?)</a:t>
            </a:r>
          </a:p>
          <a:p>
            <a:pPr marL="57150" indent="0">
              <a:buNone/>
            </a:pPr>
            <a:r>
              <a:rPr dirty="0"/>
              <a:t>Paso 2: Son la </a:t>
            </a:r>
            <a:r>
              <a:rPr dirty="0" err="1"/>
              <a:t>escructura</a:t>
            </a:r>
            <a:r>
              <a:rPr dirty="0"/>
              <a:t> y las </a:t>
            </a:r>
            <a:r>
              <a:rPr dirty="0" err="1"/>
              <a:t>cargas</a:t>
            </a:r>
            <a:r>
              <a:rPr dirty="0"/>
              <a:t> </a:t>
            </a:r>
            <a:r>
              <a:rPr dirty="0" err="1"/>
              <a:t>factoriales</a:t>
            </a:r>
            <a:r>
              <a:rPr dirty="0"/>
              <a:t> </a:t>
            </a:r>
            <a:r>
              <a:rPr dirty="0" err="1"/>
              <a:t>similares</a:t>
            </a:r>
            <a:r>
              <a:rPr dirty="0"/>
              <a:t> entre </a:t>
            </a:r>
            <a:r>
              <a:rPr dirty="0" err="1"/>
              <a:t>grupos</a:t>
            </a:r>
            <a:r>
              <a:rPr dirty="0"/>
              <a:t>? (</a:t>
            </a:r>
            <a:r>
              <a:rPr dirty="0" err="1"/>
              <a:t>Invarianza</a:t>
            </a:r>
            <a:r>
              <a:rPr dirty="0"/>
              <a:t> </a:t>
            </a:r>
            <a:r>
              <a:rPr dirty="0" err="1"/>
              <a:t>débil</a:t>
            </a:r>
            <a:r>
              <a:rPr dirty="0"/>
              <a:t>)</a:t>
            </a:r>
            <a:r>
              <a:rPr lang="en-GB" dirty="0"/>
              <a:t>, </a:t>
            </a:r>
          </a:p>
          <a:p>
            <a:pPr marL="457200" lvl="1" indent="0">
              <a:buNone/>
            </a:pPr>
            <a:r>
              <a:rPr lang="en-GB" dirty="0"/>
              <a:t> </a:t>
            </a:r>
            <a:r>
              <a:rPr lang="es-ES" dirty="0"/>
              <a:t>i.e. el ajuste global es similar del modelo A vs el B. Donde en ambos las cargas factoriales se “fijan” a valores iguales (?)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26575-2D6A-448F-8E1E-C95EACFFE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639193"/>
            <a:ext cx="8229600" cy="5486971"/>
          </a:xfrm>
        </p:spPr>
        <p:txBody>
          <a:bodyPr/>
          <a:lstStyle/>
          <a:p>
            <a:pPr marL="57150" indent="0">
              <a:buNone/>
            </a:pPr>
            <a:r>
              <a:rPr lang="es-ES" dirty="0"/>
              <a:t>Paso 3: Son la </a:t>
            </a:r>
            <a:r>
              <a:rPr lang="es-ES" dirty="0" err="1"/>
              <a:t>estrcutura</a:t>
            </a:r>
            <a:r>
              <a:rPr lang="es-ES" dirty="0"/>
              <a:t>, cargas factoriales y medias similares entre grupos? (Invarianza fuerte)</a:t>
            </a:r>
          </a:p>
          <a:p>
            <a:pPr marL="457200" lvl="1" indent="0">
              <a:buNone/>
            </a:pPr>
            <a:r>
              <a:rPr lang="es-ES" dirty="0"/>
              <a:t>	i.e. el ajuste global es similar del modelo A vs el B. Donde en ambos las cargas factoriales y ordenadas al origen se “fijan” a valores iguales (?)</a:t>
            </a:r>
          </a:p>
          <a:p>
            <a:pPr marL="57150" indent="0">
              <a:buNone/>
            </a:pPr>
            <a:r>
              <a:rPr lang="es-ES" dirty="0"/>
              <a:t>Paso 4: Son todos los parámetros comparables? (Invarianza estricta)</a:t>
            </a:r>
          </a:p>
          <a:p>
            <a:pPr marL="457200" lvl="1" indent="0">
              <a:buNone/>
            </a:pPr>
            <a:r>
              <a:rPr lang="es-ES" dirty="0"/>
              <a:t>i.e. el ajuste global es similar del modelo A vs el B. Donde en ambos todos los parámetros se “fijan” a valores iguales (?)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10139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1223" y="97195"/>
            <a:ext cx="7861177" cy="915472"/>
          </a:xfrm>
        </p:spPr>
        <p:txBody>
          <a:bodyPr>
            <a:normAutofit/>
          </a:bodyPr>
          <a:lstStyle/>
          <a:p>
            <a:r>
              <a:rPr dirty="0" err="1"/>
              <a:t>Ejemplo</a:t>
            </a:r>
            <a:r>
              <a:rPr lang="en-GB" dirty="0"/>
              <a:t>: </a:t>
            </a:r>
            <a:r>
              <a:rPr lang="en-GB" dirty="0" err="1"/>
              <a:t>Invarianza</a:t>
            </a:r>
            <a:r>
              <a:rPr lang="en-GB" dirty="0"/>
              <a:t> </a:t>
            </a:r>
            <a:r>
              <a:rPr lang="en-GB" dirty="0" err="1"/>
              <a:t>escalar</a:t>
            </a:r>
            <a:r>
              <a:rPr lang="en-GB" dirty="0"/>
              <a:t> </a:t>
            </a:r>
            <a:r>
              <a:rPr lang="en-GB" dirty="0" err="1"/>
              <a:t>parcial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Son los scores de </a:t>
            </a:r>
            <a:r>
              <a:rPr lang="en-GB" dirty="0" err="1"/>
              <a:t>pobreza</a:t>
            </a:r>
            <a:r>
              <a:rPr lang="en-GB" dirty="0"/>
              <a:t> </a:t>
            </a:r>
            <a:r>
              <a:rPr lang="en-GB" dirty="0" err="1"/>
              <a:t>comparables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los 27 </a:t>
            </a:r>
            <a:r>
              <a:rPr lang="en-GB" dirty="0" err="1"/>
              <a:t>países</a:t>
            </a:r>
            <a:r>
              <a:rPr lang="en-GB" dirty="0"/>
              <a:t> de la union </a:t>
            </a:r>
            <a:r>
              <a:rPr lang="en-GB" dirty="0" err="1"/>
              <a:t>europea</a:t>
            </a:r>
            <a:r>
              <a:rPr lang="en-GB" dirty="0"/>
              <a:t>? 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7" name="Picture 6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82C36A18-DECB-4872-A15B-218EBDF37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096" y="2203478"/>
            <a:ext cx="6761799" cy="402413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47343-D3D0-4AF7-A1DF-7FBAB091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Análisis post Hoc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774DA-4659-4473-8FD9-9C96B0ED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6688822" cy="4525963"/>
          </a:xfrm>
        </p:spPr>
        <p:txBody>
          <a:bodyPr>
            <a:normAutofit fontScale="92500" lnSpcReduction="20000"/>
          </a:bodyPr>
          <a:lstStyle/>
          <a:p>
            <a:r>
              <a:rPr lang="es-MX" dirty="0"/>
              <a:t>Qué pasa cuando no encontramos invarianza escalar? </a:t>
            </a:r>
          </a:p>
          <a:p>
            <a:r>
              <a:rPr lang="es-MX" dirty="0"/>
              <a:t>Hay alguna alternativa?</a:t>
            </a:r>
          </a:p>
          <a:p>
            <a:r>
              <a:rPr lang="es-MX" dirty="0"/>
              <a:t>En estadística siempre hay pero algunas se valen más que otras</a:t>
            </a:r>
          </a:p>
          <a:p>
            <a:r>
              <a:rPr lang="es-MX" dirty="0"/>
              <a:t>Post Hoc: Formular después del hecho! </a:t>
            </a:r>
          </a:p>
          <a:p>
            <a:r>
              <a:rPr lang="es-MX" dirty="0"/>
              <a:t>Nada nuevo. Todo mundo lo hace. </a:t>
            </a:r>
          </a:p>
          <a:p>
            <a:r>
              <a:rPr lang="es-MX" dirty="0"/>
              <a:t>Por qué es peligroso? Reproducción de resultados y acumulación de conocimiento</a:t>
            </a:r>
          </a:p>
        </p:txBody>
      </p:sp>
      <p:pic>
        <p:nvPicPr>
          <p:cNvPr id="5" name="Picture 4" descr="A picture containing dryer, drawing&#10;&#10;Description automatically generated">
            <a:extLst>
              <a:ext uri="{FF2B5EF4-FFF2-40B4-BE49-F238E27FC236}">
                <a16:creationId xmlns:a16="http://schemas.microsoft.com/office/drawing/2014/main" id="{B32FB7CC-B4F3-47E1-955F-7B141462E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422" y="1938337"/>
            <a:ext cx="451485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70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52C18-0148-4A37-8D0E-4C9ECF808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Análisis Post Hoc e Invarianza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DBDBA-ACA0-439C-A410-7C1A17CD3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208939" cy="4525963"/>
          </a:xfrm>
        </p:spPr>
        <p:txBody>
          <a:bodyPr/>
          <a:lstStyle/>
          <a:p>
            <a:r>
              <a:rPr lang="es-MX" dirty="0"/>
              <a:t>OK, la invarianza escalar no se sostiene.</a:t>
            </a:r>
          </a:p>
          <a:p>
            <a:r>
              <a:rPr lang="es-MX" dirty="0"/>
              <a:t>Qué tal y checo la fuente del desajuste? </a:t>
            </a:r>
          </a:p>
          <a:p>
            <a:r>
              <a:rPr lang="es-MX" dirty="0"/>
              <a:t>Qué tal y si la corrijo? </a:t>
            </a:r>
          </a:p>
          <a:p>
            <a:r>
              <a:rPr lang="es-MX" dirty="0"/>
              <a:t>Se vale?</a:t>
            </a:r>
          </a:p>
          <a:p>
            <a:r>
              <a:rPr lang="es-MX" dirty="0"/>
              <a:t>Qué implicaciones tiene?</a:t>
            </a:r>
          </a:p>
        </p:txBody>
      </p:sp>
    </p:spTree>
    <p:extLst>
      <p:ext uri="{BB962C8B-B14F-4D97-AF65-F5344CB8AC3E}">
        <p14:creationId xmlns:p14="http://schemas.microsoft.com/office/powerpoint/2010/main" val="133815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D6D60-A4D6-41C3-AC22-17799EAEA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Post hoc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A8FC9ABA-EF1D-421C-8368-3870BDAF5D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496" y="2424418"/>
            <a:ext cx="7004904" cy="217240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45006B-EB4C-4CF0-AA35-2235A5324AF6}"/>
              </a:ext>
            </a:extLst>
          </p:cNvPr>
          <p:cNvSpPr txBox="1"/>
          <p:nvPr/>
        </p:nvSpPr>
        <p:spPr>
          <a:xfrm>
            <a:off x="637564" y="2491530"/>
            <a:ext cx="36072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La relación causal puede corromperse</a:t>
            </a:r>
          </a:p>
          <a:p>
            <a:endParaRPr lang="es-MX" dirty="0"/>
          </a:p>
          <a:p>
            <a:r>
              <a:rPr lang="es-MX" dirty="0"/>
              <a:t>El argumento queda en el investigador y no en la teoría detrás del modelo</a:t>
            </a:r>
          </a:p>
          <a:p>
            <a:endParaRPr lang="es-MX" dirty="0"/>
          </a:p>
          <a:p>
            <a:r>
              <a:rPr lang="es-MX" dirty="0"/>
              <a:t>Los resultados no se pueden reproducir</a:t>
            </a:r>
          </a:p>
        </p:txBody>
      </p:sp>
    </p:spTree>
    <p:extLst>
      <p:ext uri="{BB962C8B-B14F-4D97-AF65-F5344CB8AC3E}">
        <p14:creationId xmlns:p14="http://schemas.microsoft.com/office/powerpoint/2010/main" val="884105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B6E94-8764-455E-A35A-D1D69A842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Post hoc e invarianza</a:t>
            </a:r>
          </a:p>
        </p:txBody>
      </p:sp>
      <p:pic>
        <p:nvPicPr>
          <p:cNvPr id="5" name="Picture 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D29BE1CB-5CDD-4792-A5E4-5F5DD2284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353" y="1492275"/>
            <a:ext cx="5154161" cy="50910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D74F41-BDFC-49B5-9FBE-4290563902B8}"/>
              </a:ext>
            </a:extLst>
          </p:cNvPr>
          <p:cNvSpPr txBox="1"/>
          <p:nvPr/>
        </p:nvSpPr>
        <p:spPr>
          <a:xfrm>
            <a:off x="788565" y="2231472"/>
            <a:ext cx="489441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Índices de modificación:</a:t>
            </a:r>
          </a:p>
          <a:p>
            <a:endParaRPr lang="es-MX" dirty="0"/>
          </a:p>
          <a:p>
            <a:r>
              <a:rPr lang="es-MX" dirty="0"/>
              <a:t>Medida de cambio en Chi-</a:t>
            </a:r>
            <a:r>
              <a:rPr lang="es-MX" dirty="0" err="1"/>
              <a:t>square</a:t>
            </a:r>
            <a:endParaRPr lang="es-MX" dirty="0"/>
          </a:p>
          <a:p>
            <a:endParaRPr lang="es-MX" dirty="0"/>
          </a:p>
          <a:p>
            <a:r>
              <a:rPr lang="es-MX" dirty="0"/>
              <a:t>Entre más altos, mayor la contribución al desajuste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852367-DD98-49BB-A5D1-5CE8925996F9}"/>
              </a:ext>
            </a:extLst>
          </p:cNvPr>
          <p:cNvSpPr/>
          <p:nvPr/>
        </p:nvSpPr>
        <p:spPr>
          <a:xfrm>
            <a:off x="8019875" y="1667312"/>
            <a:ext cx="914400" cy="3523376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5336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6C6E-346A-4FA7-A0B6-FC4154E2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 muy malo el reajuste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74251-7C7A-44C0-BC49-E79291DE4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/>
              <a:t>HARKing</a:t>
            </a:r>
            <a:r>
              <a:rPr lang="en-GB" dirty="0"/>
              <a:t> (Hypothesizing After Results Are Known) </a:t>
            </a:r>
          </a:p>
          <a:p>
            <a:r>
              <a:rPr lang="en-GB" dirty="0"/>
              <a:t>Sharking (Secretly </a:t>
            </a:r>
            <a:r>
              <a:rPr lang="en-GB" dirty="0" err="1"/>
              <a:t>HARKing</a:t>
            </a:r>
            <a:r>
              <a:rPr lang="en-GB" dirty="0"/>
              <a:t> in the Introduction section) </a:t>
            </a:r>
          </a:p>
          <a:p>
            <a:pPr lvl="1"/>
            <a:r>
              <a:rPr lang="en-GB" dirty="0"/>
              <a:t>Lo que AHORA </a:t>
            </a:r>
            <a:r>
              <a:rPr lang="en-GB" dirty="0" err="1"/>
              <a:t>quiero</a:t>
            </a:r>
            <a:r>
              <a:rPr lang="en-GB" dirty="0"/>
              <a:t> </a:t>
            </a:r>
            <a:r>
              <a:rPr lang="en-GB" dirty="0" err="1"/>
              <a:t>demostrar</a:t>
            </a:r>
            <a:r>
              <a:rPr lang="en-GB" dirty="0"/>
              <a:t> (es que no me </a:t>
            </a:r>
            <a:r>
              <a:rPr lang="en-GB" dirty="0" err="1"/>
              <a:t>equivoco</a:t>
            </a:r>
            <a:r>
              <a:rPr lang="en-GB" dirty="0"/>
              <a:t>)</a:t>
            </a:r>
          </a:p>
          <a:p>
            <a:r>
              <a:rPr lang="en-GB" dirty="0" err="1"/>
              <a:t>Tharking</a:t>
            </a:r>
            <a:r>
              <a:rPr lang="en-GB" dirty="0"/>
              <a:t> (Transparently </a:t>
            </a:r>
            <a:r>
              <a:rPr lang="en-GB" dirty="0" err="1"/>
              <a:t>HARKing</a:t>
            </a:r>
            <a:r>
              <a:rPr lang="en-GB" dirty="0"/>
              <a:t> in the Discussion section).</a:t>
            </a:r>
          </a:p>
          <a:p>
            <a:pPr lvl="1"/>
            <a:r>
              <a:rPr lang="en-GB" dirty="0"/>
              <a:t>[Q]</a:t>
            </a:r>
            <a:r>
              <a:rPr lang="en-GB" dirty="0" err="1"/>
              <a:t>uoting</a:t>
            </a:r>
            <a:r>
              <a:rPr lang="en-GB" dirty="0"/>
              <a:t> </a:t>
            </a:r>
            <a:r>
              <a:rPr lang="en-GB" dirty="0">
                <a:hlinkClick r:id="rId2"/>
              </a:rPr>
              <a:t>Kuhn (1962</a:t>
            </a:r>
            <a:r>
              <a:rPr lang="en-GB" dirty="0"/>
              <a:t>: 49), “the prelude to much discovery and to all novel theory is not ignorance, but the recognition that something has gone wrong with existing knowledge.” </a:t>
            </a:r>
          </a:p>
          <a:p>
            <a:r>
              <a:rPr lang="en-GB" dirty="0"/>
              <a:t>Si se </a:t>
            </a:r>
            <a:r>
              <a:rPr lang="en-GB" dirty="0" err="1"/>
              <a:t>reconocen</a:t>
            </a:r>
            <a:r>
              <a:rPr lang="en-GB" dirty="0"/>
              <a:t> los </a:t>
            </a:r>
            <a:r>
              <a:rPr lang="en-GB" dirty="0" err="1"/>
              <a:t>cambios</a:t>
            </a:r>
            <a:r>
              <a:rPr lang="en-GB" dirty="0"/>
              <a:t> y se </a:t>
            </a:r>
            <a:r>
              <a:rPr lang="en-GB" dirty="0" err="1"/>
              <a:t>brinda</a:t>
            </a:r>
            <a:r>
              <a:rPr lang="en-GB" dirty="0"/>
              <a:t> una </a:t>
            </a:r>
            <a:r>
              <a:rPr lang="en-GB" dirty="0" err="1"/>
              <a:t>racionalidad</a:t>
            </a:r>
            <a:r>
              <a:rPr lang="en-GB" dirty="0"/>
              <a:t>, hay </a:t>
            </a:r>
            <a:r>
              <a:rPr lang="en-GB" dirty="0" err="1"/>
              <a:t>transparencia</a:t>
            </a:r>
            <a:r>
              <a:rPr lang="en-GB" dirty="0"/>
              <a:t> y </a:t>
            </a:r>
            <a:r>
              <a:rPr lang="en-GB" dirty="0" err="1"/>
              <a:t>reproducción</a:t>
            </a:r>
            <a:r>
              <a:rPr lang="en-GB" dirty="0"/>
              <a:t> de </a:t>
            </a:r>
            <a:r>
              <a:rPr lang="en-GB" dirty="0" err="1"/>
              <a:t>resultados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35381863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io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658</Words>
  <Application>Microsoft Office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1_Tema de Office</vt:lpstr>
      <vt:lpstr>Invarianza factorial Recordatorio… y puente a lo práctico</vt:lpstr>
      <vt:lpstr>Intuición al concepto de invarianza</vt:lpstr>
      <vt:lpstr>Comparabilidad en la teoría de la medición</vt:lpstr>
      <vt:lpstr>Exploración de la posible comparabilidad de los parámetros:</vt:lpstr>
      <vt:lpstr>Exploración del grado de comparabildiad de los parámetros:</vt:lpstr>
      <vt:lpstr>Método para el análisis formal de invarianza:</vt:lpstr>
      <vt:lpstr>PowerPoint Presentation</vt:lpstr>
      <vt:lpstr>Ejemplo: Invarianza escalar parcial</vt:lpstr>
      <vt:lpstr>Análisis post Hoc</vt:lpstr>
      <vt:lpstr>Análisis Post Hoc e Invarianza</vt:lpstr>
      <vt:lpstr>Post hoc</vt:lpstr>
      <vt:lpstr>Post hoc e invarianza</vt:lpstr>
      <vt:lpstr>Es muy malo el reajuste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Invarianza factorial</dc:title>
  <dc:creator>Hector Najera</dc:creator>
  <cp:lastModifiedBy>Hector Najera</cp:lastModifiedBy>
  <cp:revision>6</cp:revision>
  <dcterms:created xsi:type="dcterms:W3CDTF">2020-05-13T16:54:50Z</dcterms:created>
  <dcterms:modified xsi:type="dcterms:W3CDTF">2020-05-13T18:24:53Z</dcterms:modified>
</cp:coreProperties>
</file>