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407" r:id="rId3"/>
    <p:sldId id="385" r:id="rId4"/>
    <p:sldId id="381" r:id="rId5"/>
    <p:sldId id="383" r:id="rId6"/>
    <p:sldId id="384" r:id="rId7"/>
    <p:sldId id="382" r:id="rId8"/>
    <p:sldId id="357" r:id="rId9"/>
    <p:sldId id="386" r:id="rId10"/>
    <p:sldId id="388" r:id="rId11"/>
    <p:sldId id="389" r:id="rId12"/>
    <p:sldId id="390" r:id="rId13"/>
    <p:sldId id="401" r:id="rId14"/>
    <p:sldId id="400" r:id="rId15"/>
    <p:sldId id="402" r:id="rId16"/>
    <p:sldId id="391" r:id="rId17"/>
    <p:sldId id="393" r:id="rId18"/>
    <p:sldId id="394" r:id="rId19"/>
    <p:sldId id="395" r:id="rId20"/>
    <p:sldId id="398" r:id="rId21"/>
    <p:sldId id="403" r:id="rId22"/>
    <p:sldId id="396" r:id="rId23"/>
    <p:sldId id="397" r:id="rId24"/>
    <p:sldId id="387" r:id="rId25"/>
    <p:sldId id="404" r:id="rId26"/>
    <p:sldId id="405" r:id="rId27"/>
    <p:sldId id="406" r:id="rId28"/>
    <p:sldId id="380" r:id="rId29"/>
    <p:sldId id="361" r:id="rId3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tor Najera" userId="04fbcd51e4148ba7" providerId="LiveId" clId="{7A28B6A9-3C46-4F6A-8908-0BDD4B436437}"/>
    <pc:docChg chg="custSel modSld">
      <pc:chgData name="Hector Najera" userId="04fbcd51e4148ba7" providerId="LiveId" clId="{7A28B6A9-3C46-4F6A-8908-0BDD4B436437}" dt="2020-02-26T16:16:41.656" v="29" actId="313"/>
      <pc:docMkLst>
        <pc:docMk/>
      </pc:docMkLst>
      <pc:sldChg chg="modSp mod">
        <pc:chgData name="Hector Najera" userId="04fbcd51e4148ba7" providerId="LiveId" clId="{7A28B6A9-3C46-4F6A-8908-0BDD4B436437}" dt="2020-02-26T16:16:41.656" v="29" actId="313"/>
        <pc:sldMkLst>
          <pc:docMk/>
          <pc:sldMk cId="3854006289" sldId="383"/>
        </pc:sldMkLst>
        <pc:spChg chg="mod">
          <ac:chgData name="Hector Najera" userId="04fbcd51e4148ba7" providerId="LiveId" clId="{7A28B6A9-3C46-4F6A-8908-0BDD4B436437}" dt="2020-02-26T16:16:41.656" v="29" actId="313"/>
          <ac:spMkLst>
            <pc:docMk/>
            <pc:sldMk cId="3854006289" sldId="383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 rotWithShape="1">
          <a:blip r:embed="rId2"/>
          <a:srcRect l="387" t="1" r="-1" b="1130"/>
          <a:stretch/>
        </p:blipFill>
        <p:spPr>
          <a:xfrm>
            <a:off x="2" y="1"/>
            <a:ext cx="12207805" cy="68665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4300483"/>
            <a:ext cx="8534400" cy="1338317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26/02/2020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776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26/02/2020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893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26/02/2020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005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26/02/2020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00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26/02/2020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642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26/02/2020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823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26/02/2020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250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143510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66733" y="1435101"/>
            <a:ext cx="6815667" cy="46910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09601" y="2597151"/>
            <a:ext cx="4011084" cy="35290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26/02/2020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5515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200" y="4985124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11200" y="1553686"/>
            <a:ext cx="7315200" cy="3431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00683" y="1553687"/>
            <a:ext cx="3658932" cy="317388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26/02/2020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159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26/02/2020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984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1374427"/>
            <a:ext cx="2743200" cy="475173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374427"/>
            <a:ext cx="8026400" cy="4751736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26/02/2020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193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3454400" y="274639"/>
            <a:ext cx="8128000" cy="782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B83AC-891D-8147-800E-9455D2F3A257}" type="datetimeFigureOut">
              <a:rPr lang="es-ES" smtClean="0"/>
              <a:t>26/02/2020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010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s.stackexchange.com/questions/43378/internal-consistency-reliability-in-item-response-theory-models" TargetMode="External"/><Relationship Id="rId2" Type="http://schemas.openxmlformats.org/officeDocument/2006/relationships/hyperlink" Target="https://www.statmodel.com/download/UnivariateEntropy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tata.com/features/overview/latent-class-analysis/" TargetMode="External"/><Relationship Id="rId4" Type="http://schemas.openxmlformats.org/officeDocument/2006/relationships/hyperlink" Target="https://cran.r-project.org/web/packages/poLCA/index.html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3400" y="2116646"/>
            <a:ext cx="8024091" cy="1932840"/>
          </a:xfrm>
        </p:spPr>
        <p:txBody>
          <a:bodyPr>
            <a:normAutofit/>
          </a:bodyPr>
          <a:lstStyle/>
          <a:p>
            <a:r>
              <a:rPr lang="es-MX" b="1" dirty="0"/>
              <a:t>Clase 5: Entropía, Teoría de la Información y clasificación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95600" y="4480097"/>
            <a:ext cx="6400800" cy="1338317"/>
          </a:xfrm>
        </p:spPr>
        <p:txBody>
          <a:bodyPr/>
          <a:lstStyle/>
          <a:p>
            <a:r>
              <a:rPr lang="es-MX" dirty="0"/>
              <a:t>Dr. Curtis </a:t>
            </a:r>
            <a:r>
              <a:rPr lang="es-MX" dirty="0" err="1"/>
              <a:t>Huffman</a:t>
            </a:r>
            <a:endParaRPr lang="es-MX" dirty="0"/>
          </a:p>
          <a:p>
            <a:r>
              <a:rPr lang="es-MX" dirty="0"/>
              <a:t>Dr. Héctor Nájera</a:t>
            </a:r>
          </a:p>
          <a:p>
            <a:endParaRPr lang="es-MX" dirty="0"/>
          </a:p>
          <a:p>
            <a:endParaRPr lang="es-ES" dirty="0"/>
          </a:p>
        </p:txBody>
      </p:sp>
      <p:grpSp>
        <p:nvGrpSpPr>
          <p:cNvPr id="4" name="Grupo 3"/>
          <p:cNvGrpSpPr/>
          <p:nvPr/>
        </p:nvGrpSpPr>
        <p:grpSpPr>
          <a:xfrm>
            <a:off x="3356101" y="313620"/>
            <a:ext cx="3842080" cy="1223823"/>
            <a:chOff x="3116137" y="270503"/>
            <a:chExt cx="3842080" cy="1223823"/>
          </a:xfrm>
        </p:grpSpPr>
        <p:pic>
          <p:nvPicPr>
            <p:cNvPr id="5" name="Picture 14" descr="Resultado de imagen para economia unam"/>
            <p:cNvPicPr>
              <a:picLocks noChangeAspect="1" noChangeArrowheads="1"/>
            </p:cNvPicPr>
            <p:nvPr/>
          </p:nvPicPr>
          <p:blipFill>
            <a:blip r:embed="rId2" cstate="hq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4751" y="270503"/>
              <a:ext cx="953466" cy="1124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6" descr="Resultado de imagen para posgrado unam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detail="6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120"/>
            <a:stretch/>
          </p:blipFill>
          <p:spPr bwMode="auto">
            <a:xfrm>
              <a:off x="3116137" y="270503"/>
              <a:ext cx="2769345" cy="12238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4" descr="Imagen relacionada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5477" y="5638799"/>
            <a:ext cx="1463040" cy="125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56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80B0F-95E1-4F2A-9AAE-42558CEF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Clases Latentes y probabilidad</a:t>
            </a:r>
          </a:p>
        </p:txBody>
      </p:sp>
      <p:pic>
        <p:nvPicPr>
          <p:cNvPr id="5" name="Imagen 4" descr="Captura de pantalla de un celular con texto&#10;&#10;Descripción generada automáticamente">
            <a:extLst>
              <a:ext uri="{FF2B5EF4-FFF2-40B4-BE49-F238E27FC236}">
                <a16:creationId xmlns:a16="http://schemas.microsoft.com/office/drawing/2014/main" id="{DB0162A6-7E26-4D0C-A1CF-DE80AF63D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778" y="1489135"/>
            <a:ext cx="6939531" cy="481685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91D4872-B314-44AC-AF35-C1EB9BDB168A}"/>
              </a:ext>
            </a:extLst>
          </p:cNvPr>
          <p:cNvSpPr txBox="1"/>
          <p:nvPr/>
        </p:nvSpPr>
        <p:spPr>
          <a:xfrm>
            <a:off x="864066" y="4865615"/>
            <a:ext cx="3439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Probabilidades condicionales a la membresía de clase</a:t>
            </a:r>
          </a:p>
          <a:p>
            <a:endParaRPr lang="es-MX" dirty="0"/>
          </a:p>
          <a:p>
            <a:r>
              <a:rPr lang="es-MX" dirty="0"/>
              <a:t>(Posterior </a:t>
            </a:r>
            <a:r>
              <a:rPr lang="es-MX" dirty="0" err="1"/>
              <a:t>probabilities</a:t>
            </a:r>
            <a:r>
              <a:rPr lang="es-MX" dirty="0"/>
              <a:t>)</a:t>
            </a:r>
          </a:p>
        </p:txBody>
      </p:sp>
      <p:pic>
        <p:nvPicPr>
          <p:cNvPr id="7" name="Imagen 6" descr="Introduction to Latent Class Analysis With Applications - Mariano Porcu, Francesca Giambona, 2017 - Mozilla Firefox">
            <a:extLst>
              <a:ext uri="{FF2B5EF4-FFF2-40B4-BE49-F238E27FC236}">
                <a16:creationId xmlns:a16="http://schemas.microsoft.com/office/drawing/2014/main" id="{D13116A5-CF15-40EA-9838-4047A528A7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79" t="30989" r="50026" b="58541"/>
          <a:stretch/>
        </p:blipFill>
        <p:spPr>
          <a:xfrm>
            <a:off x="512691" y="1610685"/>
            <a:ext cx="3632433" cy="156035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0DFB66C-01FD-4009-BC82-5F31BD1FAE3D}"/>
              </a:ext>
            </a:extLst>
          </p:cNvPr>
          <p:cNvSpPr txBox="1"/>
          <p:nvPr/>
        </p:nvSpPr>
        <p:spPr>
          <a:xfrm>
            <a:off x="2583809" y="3498209"/>
            <a:ext cx="2122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Probabilidad de cierta “r” respuesta a “j” condicional en la clase “c”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D92DCC3-230D-4ED7-AF68-1C3530DC95F0}"/>
              </a:ext>
            </a:extLst>
          </p:cNvPr>
          <p:cNvCxnSpPr>
            <a:cxnSpLocks/>
          </p:cNvCxnSpPr>
          <p:nvPr/>
        </p:nvCxnSpPr>
        <p:spPr>
          <a:xfrm flipH="1" flipV="1">
            <a:off x="3317845" y="2651624"/>
            <a:ext cx="205531" cy="777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34A6FD15-4588-49F9-9539-D1A8200411E7}"/>
              </a:ext>
            </a:extLst>
          </p:cNvPr>
          <p:cNvSpPr/>
          <p:nvPr/>
        </p:nvSpPr>
        <p:spPr>
          <a:xfrm>
            <a:off x="7013197" y="5226340"/>
            <a:ext cx="906010" cy="42784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601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3.5 EXPRESSING THE DEGREE OF UNCERTAINTY: MEAN POSTERIOR PROBABILITIES AND ENTROPY</a:t>
            </a: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199" y="2843866"/>
            <a:ext cx="7425601" cy="117026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14" y="4215578"/>
            <a:ext cx="10567201" cy="1161333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725314" y="5617495"/>
            <a:ext cx="108570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Collins, L. M., &amp; Lanza, S. T. (2009). </a:t>
            </a:r>
            <a:r>
              <a:rPr lang="en-US" i="1" dirty="0">
                <a:solidFill>
                  <a:srgbClr val="222222"/>
                </a:solidFill>
                <a:latin typeface="Arial" panose="020B0604020202020204" pitchFamily="34" charset="0"/>
              </a:rPr>
              <a:t>Latent class and latent transition analysis: With applications in the social, behavioral, and health sciences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(Vol. 718). John Wiley &amp; Sons. P. 73-75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637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Definition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why “Entropy”? Where did that come from?</a:t>
            </a:r>
          </a:p>
          <a:p>
            <a:endParaRPr lang="en-US" dirty="0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300" y="2320298"/>
            <a:ext cx="4343399" cy="434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7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Orígenes de entropía 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187" y="1960067"/>
            <a:ext cx="5029636" cy="3033023"/>
          </a:xfrm>
        </p:spPr>
      </p:pic>
      <p:sp>
        <p:nvSpPr>
          <p:cNvPr id="6" name="CuadroTexto 5"/>
          <p:cNvSpPr txBox="1"/>
          <p:nvPr/>
        </p:nvSpPr>
        <p:spPr>
          <a:xfrm>
            <a:off x="1123406" y="1446115"/>
            <a:ext cx="383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Sec. 6 Choice, Uncertainty and Entropy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279085" y="1960067"/>
            <a:ext cx="6134342" cy="3282492"/>
            <a:chOff x="418422" y="1872982"/>
            <a:chExt cx="5712000" cy="2924512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8422" y="1872982"/>
              <a:ext cx="5712000" cy="2108267"/>
            </a:xfrm>
            <a:prstGeom prst="rect">
              <a:avLst/>
            </a:prstGeom>
          </p:spPr>
        </p:pic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522" y="3930961"/>
              <a:ext cx="5497800" cy="866533"/>
            </a:xfrm>
            <a:prstGeom prst="rect">
              <a:avLst/>
            </a:prstGeom>
          </p:spPr>
        </p:pic>
      </p:grpSp>
      <p:sp>
        <p:nvSpPr>
          <p:cNvPr id="9" name="CuadroTexto 8"/>
          <p:cNvSpPr txBox="1"/>
          <p:nvPr/>
        </p:nvSpPr>
        <p:spPr>
          <a:xfrm>
            <a:off x="711200" y="5459767"/>
            <a:ext cx="10144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Shannon, C. E. (1948). A mathematical theory of communication. </a:t>
            </a:r>
            <a:r>
              <a:rPr lang="en-US" i="1" dirty="0"/>
              <a:t>Bell system technical journal</a:t>
            </a:r>
            <a:r>
              <a:rPr lang="en-US" dirty="0"/>
              <a:t>, </a:t>
            </a:r>
            <a:r>
              <a:rPr lang="en-US" i="1" dirty="0"/>
              <a:t>27</a:t>
            </a:r>
            <a:r>
              <a:rPr lang="en-US" dirty="0"/>
              <a:t>(3), 392-393.</a:t>
            </a:r>
          </a:p>
        </p:txBody>
      </p:sp>
    </p:spTree>
    <p:extLst>
      <p:ext uri="{BB962C8B-B14F-4D97-AF65-F5344CB8AC3E}">
        <p14:creationId xmlns:p14="http://schemas.microsoft.com/office/powerpoint/2010/main" val="385400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Luego</a:t>
            </a:r>
            <a:r>
              <a:rPr lang="en-US" dirty="0"/>
              <a:t> Shannon </a:t>
            </a:r>
            <a:r>
              <a:rPr lang="en-US" dirty="0" err="1"/>
              <a:t>prueba</a:t>
            </a:r>
            <a:r>
              <a:rPr lang="en-US" dirty="0"/>
              <a:t> el </a:t>
            </a:r>
            <a:r>
              <a:rPr lang="en-US" dirty="0" err="1"/>
              <a:t>teorema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836" y="2508445"/>
            <a:ext cx="7699176" cy="2098389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836023" y="5312229"/>
            <a:ext cx="9355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Shannon </a:t>
            </a:r>
            <a:r>
              <a:rPr lang="en-US" dirty="0" err="1"/>
              <a:t>buscaba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 de </a:t>
            </a:r>
            <a:r>
              <a:rPr lang="en-US" dirty="0" err="1"/>
              <a:t>cuánta</a:t>
            </a:r>
            <a:r>
              <a:rPr lang="en-US" dirty="0"/>
              <a:t> “</a:t>
            </a:r>
            <a:r>
              <a:rPr lang="en-US" dirty="0" err="1"/>
              <a:t>elección</a:t>
            </a:r>
            <a:r>
              <a:rPr lang="en-US" dirty="0"/>
              <a:t>” o “</a:t>
            </a:r>
            <a:r>
              <a:rPr lang="en-US" dirty="0" err="1"/>
              <a:t>incertidumbre</a:t>
            </a:r>
            <a:r>
              <a:rPr lang="en-US" dirty="0"/>
              <a:t>” hay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resultado</a:t>
            </a:r>
            <a:r>
              <a:rPr lang="en-US" dirty="0"/>
              <a:t>.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 de la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contenida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o </a:t>
            </a:r>
            <a:r>
              <a:rPr lang="en-US" dirty="0" err="1"/>
              <a:t>asociada</a:t>
            </a:r>
            <a:r>
              <a:rPr lang="en-US" dirty="0"/>
              <a:t> a,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distribución</a:t>
            </a:r>
            <a:r>
              <a:rPr lang="en-US" dirty="0"/>
              <a:t> de </a:t>
            </a:r>
            <a:r>
              <a:rPr lang="en-US" dirty="0" err="1"/>
              <a:t>probabilidad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10846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Let a discrete probability distribution be defined as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=1, 2, …,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≥0</m:t>
                    </m:r>
                  </m:oMath>
                </a14:m>
                <a:r>
                  <a:rPr lang="en-US" dirty="0"/>
                  <a:t> ,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Entropy of the distribution is defined as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=−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(note, by convention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0=0).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8" t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454400" y="274639"/>
            <a:ext cx="8128000" cy="782098"/>
          </a:xfrm>
        </p:spPr>
        <p:txBody>
          <a:bodyPr/>
          <a:lstStyle/>
          <a:p>
            <a:r>
              <a:rPr lang="en-US" dirty="0"/>
              <a:t>Entropy Definition</a:t>
            </a:r>
          </a:p>
        </p:txBody>
      </p:sp>
    </p:spTree>
    <p:extLst>
      <p:ext uri="{BB962C8B-B14F-4D97-AF65-F5344CB8AC3E}">
        <p14:creationId xmlns:p14="http://schemas.microsoft.com/office/powerpoint/2010/main" val="3283462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15DBF-CB64-4C17-9921-CEE9C8F0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Medida de información de Shannon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2FFCE69-D187-422A-B1C9-82C1BF32E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Interpretaciones</a:t>
                </a:r>
              </a:p>
              <a:p>
                <a:pPr lvl="1"/>
                <a:r>
                  <a:rPr lang="es-MX" dirty="0"/>
                  <a:t>La inverosimilitud (o sorpresa) promedio respecto al resultado (todos los posibles) de un experimento</a:t>
                </a:r>
              </a:p>
              <a:p>
                <a:pPr lvl="2"/>
                <a:r>
                  <a:rPr lang="es-MX" dirty="0"/>
                  <a:t>Noten que tiene la forma de un promedio: el promedio de la cantidad “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MX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func>
                  </m:oMath>
                </a14:m>
                <a:r>
                  <a:rPr lang="es-MX" dirty="0"/>
                  <a:t>” bajo la distribución de probabilidad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s-MX" dirty="0"/>
                  <a:t>”. </a:t>
                </a:r>
              </a:p>
              <a:p>
                <a:pPr marL="1371600" lvl="3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s-MX" dirty="0"/>
              </a:p>
              <a:p>
                <a:pPr lvl="1"/>
                <a:r>
                  <a:rPr lang="es-MX" dirty="0"/>
                  <a:t>Una medida de incertidumbre</a:t>
                </a:r>
              </a:p>
              <a:p>
                <a:pPr lvl="1"/>
                <a:r>
                  <a:rPr lang="es-MX" dirty="0"/>
                  <a:t>Una medida de información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2FFCE69-D187-422A-B1C9-82C1BF32E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1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Qualitative Introduction to IT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1678578"/>
            <a:ext cx="10972800" cy="4525963"/>
          </a:xfrm>
        </p:spPr>
        <p:txBody>
          <a:bodyPr/>
          <a:lstStyle/>
          <a:p>
            <a:r>
              <a:rPr lang="es-MX" dirty="0"/>
              <a:t>Piensen que reducir “incertidumbre” (falta de seguridad, de confianza o de certeza sobre algo) es tanto como obtener información</a:t>
            </a:r>
          </a:p>
          <a:p>
            <a:r>
              <a:rPr lang="es-MX" dirty="0"/>
              <a:t>Estamos interesados en la cantidad de información contenida en un experimento</a:t>
            </a:r>
          </a:p>
          <a:p>
            <a:pPr lvl="1"/>
            <a:r>
              <a:rPr lang="es-MX" dirty="0"/>
              <a:t>Una manera de medir la cantidad de información con la que se cuenta es por el número de preguntas necesarias para obtener la información requerida. </a:t>
            </a:r>
          </a:p>
        </p:txBody>
      </p:sp>
    </p:spTree>
    <p:extLst>
      <p:ext uri="{BB962C8B-B14F-4D97-AF65-F5344CB8AC3E}">
        <p14:creationId xmlns:p14="http://schemas.microsoft.com/office/powerpoint/2010/main" val="3081859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Para un experimento con </a:t>
                </a:r>
                <a:r>
                  <a:rPr lang="es-MX" i="1" dirty="0"/>
                  <a:t>n</a:t>
                </a:r>
                <a:r>
                  <a:rPr lang="es-MX" dirty="0"/>
                  <a:t> resultados posibles, de probabilidades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MX" dirty="0"/>
                  <a:t>, la cantidad </a:t>
                </a:r>
                <a:r>
                  <a:rPr lang="es-MX" i="1" dirty="0"/>
                  <a:t>H</a:t>
                </a:r>
                <a:r>
                  <a:rPr lang="es-MX" dirty="0"/>
                  <a:t> es una medida de cuan “difícil” es descubrir cuál resultado ha tomado lugar.  </a:t>
                </a: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52" r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974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Adivina</a:t>
            </a:r>
            <a:r>
              <a:rPr lang="en-US" dirty="0"/>
              <a:t> </a:t>
            </a:r>
            <a:r>
              <a:rPr lang="en-US" dirty="0" err="1"/>
              <a:t>quién</a:t>
            </a:r>
            <a:r>
              <a:rPr lang="en-US" dirty="0"/>
              <a:t>?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5" y="1464308"/>
            <a:ext cx="6836229" cy="4661856"/>
          </a:xfrm>
          <a:prstGeom prst="rect">
            <a:avLst/>
          </a:prstGeom>
        </p:spPr>
      </p:pic>
      <p:pic>
        <p:nvPicPr>
          <p:cNvPr id="1026" name="Picture 2" descr="Resultado de imagen de adivina quien tablero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400" y="2264228"/>
            <a:ext cx="4232413" cy="2816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938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estrategias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81055"/>
            <a:ext cx="4943739" cy="40507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53780AC-9298-46B5-BDAD-97BFFAD34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471" y="1982564"/>
            <a:ext cx="5441795" cy="317809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40DED11-385B-4150-A564-4B229EECC0BF}"/>
              </a:ext>
            </a:extLst>
          </p:cNvPr>
          <p:cNvSpPr txBox="1"/>
          <p:nvPr/>
        </p:nvSpPr>
        <p:spPr>
          <a:xfrm>
            <a:off x="6896358" y="5334794"/>
            <a:ext cx="4349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¿con cuál estrategia ganas más información (excluye más posibilidades)?</a:t>
            </a:r>
          </a:p>
        </p:txBody>
      </p:sp>
    </p:spTree>
    <p:extLst>
      <p:ext uri="{BB962C8B-B14F-4D97-AF65-F5344CB8AC3E}">
        <p14:creationId xmlns:p14="http://schemas.microsoft.com/office/powerpoint/2010/main" val="1443194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E3AF0A6-8F7C-4F6A-979F-5234226916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149854"/>
              </p:ext>
            </p:extLst>
          </p:nvPr>
        </p:nvGraphicFramePr>
        <p:xfrm>
          <a:off x="1708558" y="2128707"/>
          <a:ext cx="387275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094">
                  <a:extLst>
                    <a:ext uri="{9D8B030D-6E8A-4147-A177-3AD203B41FA5}">
                      <a16:colId xmlns:a16="http://schemas.microsoft.com/office/drawing/2014/main" val="2558790021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1452351865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3736210021"/>
                    </a:ext>
                  </a:extLst>
                </a:gridCol>
                <a:gridCol w="501180">
                  <a:extLst>
                    <a:ext uri="{9D8B030D-6E8A-4147-A177-3AD203B41FA5}">
                      <a16:colId xmlns:a16="http://schemas.microsoft.com/office/drawing/2014/main" val="750834900"/>
                    </a:ext>
                  </a:extLst>
                </a:gridCol>
                <a:gridCol w="467009">
                  <a:extLst>
                    <a:ext uri="{9D8B030D-6E8A-4147-A177-3AD203B41FA5}">
                      <a16:colId xmlns:a16="http://schemas.microsoft.com/office/drawing/2014/main" val="2858262168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239971409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3721153098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771430861"/>
                    </a:ext>
                  </a:extLst>
                </a:gridCol>
              </a:tblGrid>
              <a:tr h="3227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25827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868251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014741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19190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639901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02820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098816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684646"/>
                  </a:ext>
                </a:extLst>
              </a:tr>
            </a:tbl>
          </a:graphicData>
        </a:graphic>
      </p:graphicFrame>
      <p:sp>
        <p:nvSpPr>
          <p:cNvPr id="5" name="Título 1">
            <a:extLst>
              <a:ext uri="{FF2B5EF4-FFF2-40B4-BE49-F238E27FC236}">
                <a16:creationId xmlns:a16="http://schemas.microsoft.com/office/drawing/2014/main" id="{6C285508-620B-4B1A-A182-ADC3441CE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0" y="274639"/>
            <a:ext cx="8128000" cy="782098"/>
          </a:xfrm>
        </p:spPr>
        <p:txBody>
          <a:bodyPr/>
          <a:lstStyle/>
          <a:p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estrategias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345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estrategias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7764F0-D3E7-4593-A260-E9B56B68A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743" y="1504883"/>
            <a:ext cx="735469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619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E3AF0A6-8F7C-4F6A-979F-5234226916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08558" y="2128707"/>
          <a:ext cx="387275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094">
                  <a:extLst>
                    <a:ext uri="{9D8B030D-6E8A-4147-A177-3AD203B41FA5}">
                      <a16:colId xmlns:a16="http://schemas.microsoft.com/office/drawing/2014/main" val="2558790021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1452351865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3736210021"/>
                    </a:ext>
                  </a:extLst>
                </a:gridCol>
                <a:gridCol w="501180">
                  <a:extLst>
                    <a:ext uri="{9D8B030D-6E8A-4147-A177-3AD203B41FA5}">
                      <a16:colId xmlns:a16="http://schemas.microsoft.com/office/drawing/2014/main" val="750834900"/>
                    </a:ext>
                  </a:extLst>
                </a:gridCol>
                <a:gridCol w="467009">
                  <a:extLst>
                    <a:ext uri="{9D8B030D-6E8A-4147-A177-3AD203B41FA5}">
                      <a16:colId xmlns:a16="http://schemas.microsoft.com/office/drawing/2014/main" val="2858262168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239971409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3721153098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771430861"/>
                    </a:ext>
                  </a:extLst>
                </a:gridCol>
              </a:tblGrid>
              <a:tr h="3227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25827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868251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014741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19190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639901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02820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098816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684646"/>
                  </a:ext>
                </a:extLst>
              </a:tr>
            </a:tbl>
          </a:graphicData>
        </a:graphic>
      </p:graphicFrame>
      <p:sp>
        <p:nvSpPr>
          <p:cNvPr id="5" name="Título 1">
            <a:extLst>
              <a:ext uri="{FF2B5EF4-FFF2-40B4-BE49-F238E27FC236}">
                <a16:creationId xmlns:a16="http://schemas.microsoft.com/office/drawing/2014/main" id="{6C285508-620B-4B1A-A182-ADC3441CE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0" y="274639"/>
            <a:ext cx="8128000" cy="782098"/>
          </a:xfrm>
        </p:spPr>
        <p:txBody>
          <a:bodyPr/>
          <a:lstStyle/>
          <a:p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estrategias</a:t>
            </a:r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F94AA47-9A97-4379-8C29-83F6DA60F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705" y="1652630"/>
            <a:ext cx="3100122" cy="40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94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estrategias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1625368"/>
            <a:ext cx="10972800" cy="4525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78AFEA6-170B-4E92-956C-92882BC63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66" y="1847664"/>
            <a:ext cx="5129561" cy="3624146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763B0780-EEA2-43E6-93FB-C00FCF655B8C}"/>
              </a:ext>
            </a:extLst>
          </p:cNvPr>
          <p:cNvSpPr/>
          <p:nvPr/>
        </p:nvSpPr>
        <p:spPr>
          <a:xfrm>
            <a:off x="609600" y="5727296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Ben-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Naim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, A. (2008). </a:t>
            </a:r>
            <a:r>
              <a:rPr lang="en-US" sz="1400" i="1" dirty="0">
                <a:solidFill>
                  <a:srgbClr val="222222"/>
                </a:solidFill>
                <a:latin typeface="Arial" panose="020B0604020202020204" pitchFamily="34" charset="0"/>
              </a:rPr>
              <a:t>Entropy demystified: The second law reduced to plain common sense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. World Scientific.</a:t>
            </a:r>
            <a:endParaRPr lang="es-MX" sz="1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D5A52E9-4F95-4E62-B953-6B3E3DD7F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37234"/>
            <a:ext cx="5887844" cy="343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44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estrategias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78AFEA6-170B-4E92-956C-92882BC63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66" y="1847664"/>
            <a:ext cx="5129561" cy="3624146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763B0780-EEA2-43E6-93FB-C00FCF655B8C}"/>
              </a:ext>
            </a:extLst>
          </p:cNvPr>
          <p:cNvSpPr/>
          <p:nvPr/>
        </p:nvSpPr>
        <p:spPr>
          <a:xfrm>
            <a:off x="609600" y="5727296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Ben-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Naim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, A. (2008). </a:t>
            </a:r>
            <a:r>
              <a:rPr lang="en-US" sz="1400" i="1" dirty="0">
                <a:solidFill>
                  <a:srgbClr val="222222"/>
                </a:solidFill>
                <a:latin typeface="Arial" panose="020B0604020202020204" pitchFamily="34" charset="0"/>
              </a:rPr>
              <a:t>Entropy demystified: The second law reduced to plain common sense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. World Scientific.</a:t>
            </a:r>
            <a:endParaRPr lang="es-MX" sz="14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C9DCDA8B-5D8E-4B27-BAEA-5DF1A100C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7077AB1-3521-4550-B01B-238492379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505" y="1945017"/>
            <a:ext cx="4667064" cy="331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7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estrategias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69916" y="1600201"/>
            <a:ext cx="4812484" cy="4525963"/>
          </a:xfrm>
        </p:spPr>
        <p:txBody>
          <a:bodyPr/>
          <a:lstStyle/>
          <a:p>
            <a:r>
              <a:rPr lang="es-MX"/>
              <a:t>La cantidad de información que es necesaria adquirir a base de preguntas está definida en términos de la distribución de probabilidades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78AFEA6-170B-4E92-956C-92882BC63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66" y="1847664"/>
            <a:ext cx="5129561" cy="3624146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763B0780-EEA2-43E6-93FB-C00FCF655B8C}"/>
              </a:ext>
            </a:extLst>
          </p:cNvPr>
          <p:cNvSpPr/>
          <p:nvPr/>
        </p:nvSpPr>
        <p:spPr>
          <a:xfrm>
            <a:off x="609600" y="5727296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Ben-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Naim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, A. (2008). </a:t>
            </a:r>
            <a:r>
              <a:rPr lang="en-US" sz="1400" i="1" dirty="0">
                <a:solidFill>
                  <a:srgbClr val="222222"/>
                </a:solidFill>
                <a:latin typeface="Arial" panose="020B0604020202020204" pitchFamily="34" charset="0"/>
              </a:rPr>
              <a:t>Entropy demystified: The second law reduced to plain common sense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. World Scientific.</a:t>
            </a:r>
            <a:endParaRPr lang="es-MX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DDE585F-3D9E-4117-94E8-296D2F432AFE}"/>
                  </a:ext>
                </a:extLst>
              </p:cNvPr>
              <p:cNvSpPr/>
              <p:nvPr/>
            </p:nvSpPr>
            <p:spPr>
              <a:xfrm>
                <a:off x="8052260" y="5257799"/>
                <a:ext cx="2247795" cy="7645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=−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DDE585F-3D9E-4117-94E8-296D2F432A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260" y="5257799"/>
                <a:ext cx="2247795" cy="764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6648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7BD2B-AFD9-4CCE-BCA2-6D5107F4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364209-4575-44DA-91DB-0F85B07FB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¿Cuál preferirían jugar?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F3BBB5-3B05-4D30-A0B1-3F65A85D4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200" y="2962889"/>
            <a:ext cx="4995746" cy="155002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1DBFC35-6749-4C56-BB93-6D5139D3F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997" y="2848434"/>
            <a:ext cx="4598805" cy="1778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07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7BD2B-AFD9-4CCE-BCA2-6D5107F4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364209-4575-44DA-91DB-0F85B07FB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¿Cuál preferirían jugar?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CBF199F-EAED-4532-A39B-5152EC22E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545" y="2234949"/>
            <a:ext cx="3331710" cy="406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3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7BD2B-AFD9-4CCE-BCA2-6D5107F4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364209-4575-44DA-91DB-0F85B07FB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¿Cuál preferirían jugar?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CBF199F-EAED-4532-A39B-5152EC22E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545" y="2234949"/>
            <a:ext cx="3331710" cy="406518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3C9E64D-5542-459A-82D4-88F5602E4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96551"/>
            <a:ext cx="4817327" cy="258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65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7BD2B-AFD9-4CCE-BCA2-6D5107F4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364209-4575-44DA-91DB-0F85B07FB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¿Cuál preferirían jugar?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5638A1-F5A3-4CD9-A78B-D82A6AE98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124" y="2691127"/>
            <a:ext cx="7002966" cy="206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55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116F367-7A8C-4197-AD92-66EB1548D1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2528" y="1600201"/>
                <a:ext cx="4669872" cy="4525963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s-MX" dirty="0"/>
                  <a:t>En un sentido muy intuitivo, si uno de los eventos tuviera probabilidad 1 y el resto probabilidad 0, sabríamos con certeza lo que ocurre y la incertidumbre es baja. </a:t>
                </a:r>
              </a:p>
              <a:p>
                <a:pPr lvl="1"/>
                <a:r>
                  <a:rPr lang="es-MX" dirty="0"/>
                  <a:t>Noten que este es el caso en que </a:t>
                </a:r>
                <a:endParaRPr lang="es-MX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r>
                  <a:rPr lang="en-US" dirty="0"/>
                  <a:t>.</a:t>
                </a:r>
              </a:p>
              <a:p>
                <a:r>
                  <a:rPr lang="es-MX" dirty="0"/>
                  <a:t>De nuevo en un sentido intuitivo, el caso más incierto ocurre cuando todas las probabilidad son iguales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s-MX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MX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s-MX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/>
                  <a:t>. Cualquier cosa es igualmente posible.</a:t>
                </a:r>
              </a:p>
              <a:p>
                <a:r>
                  <a:rPr lang="es-MX" dirty="0"/>
                  <a:t>Noten que en ese caso la entropía 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MX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func>
                          <m:func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MX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func>
                        <m:r>
                          <a:rPr lang="es-MX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MX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func>
                      </m:e>
                    </m:nary>
                  </m:oMath>
                </a14:m>
                <a:r>
                  <a:rPr lang="es-MX" dirty="0"/>
                  <a:t>. Ésta crece con K, como más eventos equiprobables haya, mayor será la incertidumbre.</a:t>
                </a:r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116F367-7A8C-4197-AD92-66EB1548D1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2528" y="1600201"/>
                <a:ext cx="4669872" cy="4525963"/>
              </a:xfrm>
              <a:blipFill>
                <a:blip r:embed="rId2"/>
                <a:stretch>
                  <a:fillRect l="-1175" t="-2156" r="-456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A87B93BD-5954-446A-8131-894DEAAEA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80" y="1366024"/>
            <a:ext cx="6423102" cy="412595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DFF63E2-FF9B-479E-8D80-68BFABE92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650" y="5539208"/>
            <a:ext cx="6958361" cy="52410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8CA82B5-16B4-4F47-9611-3739C62F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0" y="274639"/>
            <a:ext cx="8128000" cy="782098"/>
          </a:xfrm>
        </p:spPr>
        <p:txBody>
          <a:bodyPr/>
          <a:lstStyle/>
          <a:p>
            <a:r>
              <a:rPr lang="es-MX"/>
              <a:t>La entropía de la distribución</a:t>
            </a:r>
          </a:p>
        </p:txBody>
      </p:sp>
    </p:spTree>
    <p:extLst>
      <p:ext uri="{BB962C8B-B14F-4D97-AF65-F5344CB8AC3E}">
        <p14:creationId xmlns:p14="http://schemas.microsoft.com/office/powerpoint/2010/main" val="624144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La entropía de la distribución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i="1" dirty="0"/>
              <a:t>H</a:t>
            </a:r>
            <a:r>
              <a:rPr lang="es-MX" dirty="0"/>
              <a:t> (la medida de información de Shannon), provee una medida de información en términos del número </a:t>
            </a:r>
            <a:r>
              <a:rPr lang="es-MX" b="1" dirty="0"/>
              <a:t>mínimo</a:t>
            </a:r>
            <a:r>
              <a:rPr lang="es-MX" dirty="0"/>
              <a:t> de preguntas (binarias) necesarias, en promedio, para conocer el resultado de un experimento, dada la distribución de probabilidad de los posibles resultados.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8D4C7B0D-5275-494F-AF0E-7EA1C76C5CCD}"/>
                  </a:ext>
                </a:extLst>
              </p:cNvPr>
              <p:cNvSpPr/>
              <p:nvPr/>
            </p:nvSpPr>
            <p:spPr>
              <a:xfrm>
                <a:off x="4856055" y="4572000"/>
                <a:ext cx="2895373" cy="7645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=−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8D4C7B0D-5275-494F-AF0E-7EA1C76C5C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055" y="4572000"/>
                <a:ext cx="2895373" cy="7645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490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13B3B-DEFC-44FD-A98D-8D1FFBC7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A344F2-7A73-4742-86D2-04366A6F2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¿</a:t>
            </a:r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</a:rPr>
              <a:t>Cómo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</a:rPr>
              <a:t>llegamos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</a:rPr>
              <a:t>entonces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a la formula de Collins &amp; Lanza?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04D426-E0E6-4DF7-A1E4-CD5580698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199" y="2843866"/>
            <a:ext cx="7425601" cy="117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11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2F6D2-8FCD-4AB3-8ACA-DF2DD0078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Aplicaciones famosas</a:t>
            </a:r>
          </a:p>
        </p:txBody>
      </p:sp>
      <p:pic>
        <p:nvPicPr>
          <p:cNvPr id="1026" name="Picture 2" descr="Resultado de imagen de Theil, H. (1967). Economics and Information Theory. Chicago: Rand McNally and Company.">
            <a:extLst>
              <a:ext uri="{FF2B5EF4-FFF2-40B4-BE49-F238E27FC236}">
                <a16:creationId xmlns:a16="http://schemas.microsoft.com/office/drawing/2014/main" id="{02202136-64B0-45CD-8989-58F2B28B7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362" y="1496291"/>
            <a:ext cx="7039665" cy="498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557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2F6D2-8FCD-4AB3-8ACA-DF2DD0078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Aplicaciones famosas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B43A8D9-B050-4540-A3D7-68145EDAFF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s-MX" dirty="0"/>
                  <a:t>El índice de </a:t>
                </a:r>
                <a:r>
                  <a:rPr lang="es-MX" dirty="0" err="1"/>
                  <a:t>Theil</a:t>
                </a:r>
                <a:r>
                  <a:rPr lang="es-MX" dirty="0"/>
                  <a:t> es la redundancia en Teoría de la Información: la entropía máxima posible de los datos menos la entropía observada.</a:t>
                </a:r>
              </a:p>
              <a:p>
                <a:r>
                  <a:rPr lang="es-MX" dirty="0"/>
                  <a:t>Piensen en la distribución del ingreso, donde q es el vector de proporciones de ingreso, </a:t>
                </a:r>
                <a:endParaRPr lang="es-MX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=−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s-MX" dirty="0"/>
                  <a:t>Es el menor número más pequeño de preguntas Sí/No necesarias (en promedio) para rastrear el origen de 1 peso extraído aleatoriamente. </a:t>
                </a:r>
              </a:p>
              <a:p>
                <a:r>
                  <a:rPr lang="es-MX" dirty="0"/>
                  <a:t>De manera análoga, siendo p el vector de proporciones iguales de ingreso. La entropía de p es el número más pequeño (en promedio) para rastrear el origen de 1 peso extraído aleatoriamente de una distribución uniforme. </a:t>
                </a:r>
              </a:p>
              <a:p>
                <a:r>
                  <a:rPr lang="es-MX" dirty="0"/>
                  <a:t>La caída en el número de preguntas necesarias es una medida del grado de desigualdad. 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B43A8D9-B050-4540-A3D7-68145EDAF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1" t="-242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007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7A1E0-461C-4A6F-A4C6-248119786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Próxima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B97AFB-EAB2-4362-B79C-8E6258D6C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dirty="0"/>
              <a:t>Medidas de entropía relativa y entropía </a:t>
            </a:r>
            <a:r>
              <a:rPr lang="es-MX" dirty="0" err="1"/>
              <a:t>univariada</a:t>
            </a:r>
            <a:r>
              <a:rPr lang="es-MX" dirty="0"/>
              <a:t>: </a:t>
            </a:r>
            <a:r>
              <a:rPr lang="es-MX" dirty="0">
                <a:hlinkClick r:id="rId2"/>
              </a:rPr>
              <a:t>https://www.statmodel.com/download/UnivariateEntropy.pdf</a:t>
            </a:r>
            <a:r>
              <a:rPr lang="es-MX" dirty="0"/>
              <a:t> 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Primera estimación de Clases Latentes (Si pueden traer su laptop mejor).</a:t>
            </a:r>
          </a:p>
          <a:p>
            <a:endParaRPr lang="es-MX" dirty="0"/>
          </a:p>
          <a:p>
            <a:r>
              <a:rPr lang="es-MX" dirty="0"/>
              <a:t>Stata y R (tal vez </a:t>
            </a:r>
            <a:r>
              <a:rPr lang="es-MX" dirty="0" err="1"/>
              <a:t>Mplus</a:t>
            </a:r>
            <a:r>
              <a:rPr lang="es-MX" dirty="0"/>
              <a:t>) ¿Qué software usamos?</a:t>
            </a:r>
          </a:p>
          <a:p>
            <a:endParaRPr lang="es-MX" dirty="0"/>
          </a:p>
          <a:p>
            <a:r>
              <a:rPr lang="es-MX" dirty="0"/>
              <a:t>Chequen: </a:t>
            </a:r>
            <a:r>
              <a:rPr lang="es-MX" dirty="0" err="1"/>
              <a:t>Package</a:t>
            </a:r>
            <a:r>
              <a:rPr lang="es-MX" dirty="0"/>
              <a:t> ‘LCA’: </a:t>
            </a:r>
            <a:r>
              <a:rPr lang="es-MX" dirty="0">
                <a:hlinkClick r:id="rId3"/>
              </a:rPr>
              <a:t>https://stats.stackexchange.com/questions/43378/internal-consistency-reliability-in-item-response-theory-models</a:t>
            </a:r>
            <a:endParaRPr lang="es-MX" dirty="0"/>
          </a:p>
          <a:p>
            <a:r>
              <a:rPr lang="es-MX" dirty="0"/>
              <a:t>Chequen: </a:t>
            </a:r>
            <a:r>
              <a:rPr lang="es-MX" dirty="0" err="1"/>
              <a:t>Package</a:t>
            </a:r>
            <a:r>
              <a:rPr lang="es-MX" dirty="0"/>
              <a:t> “</a:t>
            </a:r>
            <a:r>
              <a:rPr lang="es-MX" dirty="0" err="1"/>
              <a:t>poLCA</a:t>
            </a:r>
            <a:r>
              <a:rPr lang="es-MX" dirty="0"/>
              <a:t>”: </a:t>
            </a:r>
            <a:r>
              <a:rPr lang="es-MX" dirty="0">
                <a:hlinkClick r:id="rId4"/>
              </a:rPr>
              <a:t>https://cran.r-project.org/web/packages/poLCA/index.html</a:t>
            </a:r>
            <a:r>
              <a:rPr lang="es-MX" dirty="0"/>
              <a:t> </a:t>
            </a:r>
          </a:p>
          <a:p>
            <a:r>
              <a:rPr lang="es-MX" dirty="0"/>
              <a:t>STATA: </a:t>
            </a:r>
            <a:r>
              <a:rPr lang="es-MX" dirty="0">
                <a:hlinkClick r:id="rId5"/>
              </a:rPr>
              <a:t>https://www.stata.com/features/overview/latent-class-analysis/</a:t>
            </a:r>
            <a:r>
              <a:rPr lang="es-MX" dirty="0"/>
              <a:t> </a:t>
            </a:r>
          </a:p>
          <a:p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71556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54609-79B8-4D3E-AE4F-CCD4C5CA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6DCF98-134F-45D0-815B-4ACA3D95C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dirty="0"/>
              <a:t>Ben-</a:t>
            </a:r>
            <a:r>
              <a:rPr lang="es-MX" dirty="0" err="1"/>
              <a:t>Naim</a:t>
            </a:r>
            <a:r>
              <a:rPr lang="es-MX" dirty="0"/>
              <a:t>, A. (2017). </a:t>
            </a:r>
            <a:r>
              <a:rPr lang="es-MX" dirty="0" err="1"/>
              <a:t>Entropy</a:t>
            </a:r>
            <a:r>
              <a:rPr lang="es-MX" dirty="0"/>
              <a:t>, </a:t>
            </a:r>
            <a:r>
              <a:rPr lang="es-MX" dirty="0" err="1"/>
              <a:t>Shannon’s</a:t>
            </a:r>
            <a:r>
              <a:rPr lang="es-MX" dirty="0"/>
              <a:t> </a:t>
            </a:r>
            <a:r>
              <a:rPr lang="es-MX" dirty="0" err="1"/>
              <a:t>measure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information</a:t>
            </a:r>
            <a:r>
              <a:rPr lang="es-MX" dirty="0"/>
              <a:t> and </a:t>
            </a:r>
            <a:r>
              <a:rPr lang="es-MX" dirty="0" err="1"/>
              <a:t>Boltzmann’s</a:t>
            </a:r>
            <a:r>
              <a:rPr lang="es-MX" dirty="0"/>
              <a:t> H-</a:t>
            </a:r>
            <a:r>
              <a:rPr lang="es-MX" dirty="0" err="1"/>
              <a:t>theorem</a:t>
            </a:r>
            <a:r>
              <a:rPr lang="es-MX" dirty="0"/>
              <a:t>. </a:t>
            </a:r>
            <a:r>
              <a:rPr lang="es-MX" i="1" dirty="0" err="1"/>
              <a:t>Entropy</a:t>
            </a:r>
            <a:r>
              <a:rPr lang="es-MX" dirty="0"/>
              <a:t>, </a:t>
            </a:r>
            <a:r>
              <a:rPr lang="es-MX" i="1" dirty="0"/>
              <a:t>19</a:t>
            </a:r>
            <a:r>
              <a:rPr lang="es-MX" dirty="0"/>
              <a:t>(2), 48.</a:t>
            </a:r>
            <a:endParaRPr lang="en-US" dirty="0"/>
          </a:p>
          <a:p>
            <a:r>
              <a:rPr lang="en-US" dirty="0"/>
              <a:t>Ben-</a:t>
            </a:r>
            <a:r>
              <a:rPr lang="en-US" dirty="0" err="1"/>
              <a:t>Naim</a:t>
            </a:r>
            <a:r>
              <a:rPr lang="en-US" dirty="0"/>
              <a:t>, A. (2008). </a:t>
            </a:r>
            <a:r>
              <a:rPr lang="en-US" i="1" dirty="0"/>
              <a:t>A Farewell to Entropy: Statistical Thermodynamics Based on Information: S</a:t>
            </a:r>
            <a:r>
              <a:rPr lang="en-US" dirty="0"/>
              <a:t>. World Scientific.</a:t>
            </a:r>
          </a:p>
          <a:p>
            <a:r>
              <a:rPr lang="en-US" dirty="0"/>
              <a:t>Ben-</a:t>
            </a:r>
            <a:r>
              <a:rPr lang="en-US" dirty="0" err="1"/>
              <a:t>Naim</a:t>
            </a:r>
            <a:r>
              <a:rPr lang="en-US" dirty="0"/>
              <a:t>, A. (2008). </a:t>
            </a:r>
            <a:r>
              <a:rPr lang="en-US" i="1" dirty="0"/>
              <a:t>Entropy demystified: The second law reduced to plain common sense</a:t>
            </a:r>
            <a:r>
              <a:rPr lang="en-US" dirty="0"/>
              <a:t>. World Scientific.</a:t>
            </a:r>
          </a:p>
          <a:p>
            <a:r>
              <a:rPr lang="en-US" dirty="0"/>
              <a:t>Shannon, C. E. (1948). A mathematical theory of communication. </a:t>
            </a:r>
            <a:r>
              <a:rPr lang="en-US" i="1" dirty="0"/>
              <a:t>Bell system technical journal</a:t>
            </a:r>
            <a:r>
              <a:rPr lang="en-US" dirty="0"/>
              <a:t>, </a:t>
            </a:r>
            <a:r>
              <a:rPr lang="en-US" i="1" dirty="0"/>
              <a:t>27</a:t>
            </a:r>
            <a:r>
              <a:rPr lang="en-US" dirty="0"/>
              <a:t>(3), 379-423.</a:t>
            </a:r>
          </a:p>
          <a:p>
            <a:r>
              <a:rPr lang="en-US" dirty="0" err="1"/>
              <a:t>Celeux</a:t>
            </a:r>
            <a:r>
              <a:rPr lang="en-US" dirty="0"/>
              <a:t>, G., &amp; </a:t>
            </a:r>
            <a:r>
              <a:rPr lang="en-US" dirty="0" err="1"/>
              <a:t>Soromenho</a:t>
            </a:r>
            <a:r>
              <a:rPr lang="en-US" dirty="0"/>
              <a:t>, G. (1996). An entropy criterion for assessing the number of clusters in a mixture model. </a:t>
            </a:r>
            <a:r>
              <a:rPr lang="en-US" i="1" dirty="0"/>
              <a:t>Journal of classification</a:t>
            </a:r>
            <a:r>
              <a:rPr lang="en-US" dirty="0"/>
              <a:t>, </a:t>
            </a:r>
            <a:r>
              <a:rPr lang="en-US" i="1" dirty="0"/>
              <a:t>13</a:t>
            </a:r>
            <a:r>
              <a:rPr lang="en-US" dirty="0"/>
              <a:t>(2), 195-212.</a:t>
            </a:r>
          </a:p>
          <a:p>
            <a:r>
              <a:rPr lang="en-US" dirty="0"/>
              <a:t>Collins, L. M., &amp; Lanza, S. T. (2009). </a:t>
            </a:r>
            <a:r>
              <a:rPr lang="en-US" i="1" dirty="0"/>
              <a:t>Latent class and latent transition analysis: With applications in the social, behavioral, and health science</a:t>
            </a:r>
            <a:r>
              <a:rPr lang="en-US" dirty="0"/>
              <a:t>s (Vol. 718). John Wiley &amp; Sons. </a:t>
            </a:r>
          </a:p>
          <a:p>
            <a:r>
              <a:rPr lang="en-US" dirty="0"/>
              <a:t>Theil, H. (1967). </a:t>
            </a:r>
            <a:r>
              <a:rPr lang="en-US" i="1" dirty="0"/>
              <a:t>Economics and Information Theory</a:t>
            </a:r>
            <a:r>
              <a:rPr lang="en-US" dirty="0"/>
              <a:t>. Chicago: Rand McNally and Company.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2768758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1152</Words>
  <Application>Microsoft Office PowerPoint</Application>
  <PresentationFormat>Panorámica</PresentationFormat>
  <Paragraphs>95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Arial</vt:lpstr>
      <vt:lpstr>Cambria Math</vt:lpstr>
      <vt:lpstr>Gill Sans MT</vt:lpstr>
      <vt:lpstr>1_Tema de Office</vt:lpstr>
      <vt:lpstr>Clase 5: Entropía, Teoría de la Información y clasificación</vt:lpstr>
      <vt:lpstr>Clases Latentes y probabilidad</vt:lpstr>
      <vt:lpstr>Presentación de PowerPoint</vt:lpstr>
      <vt:lpstr>Entropy Definition</vt:lpstr>
      <vt:lpstr>Orígenes de entropía </vt:lpstr>
      <vt:lpstr>Presentación de PowerPoint</vt:lpstr>
      <vt:lpstr>Entropy Definition</vt:lpstr>
      <vt:lpstr>Medida de información de Shannon</vt:lpstr>
      <vt:lpstr>A Qualitative Introduction to IT</vt:lpstr>
      <vt:lpstr>Presentación de PowerPoint</vt:lpstr>
      <vt:lpstr>¿Adivina quién?</vt:lpstr>
      <vt:lpstr>Diferentes estrategias</vt:lpstr>
      <vt:lpstr>Diferentes estrategias</vt:lpstr>
      <vt:lpstr>Diferentes estrategias</vt:lpstr>
      <vt:lpstr>Diferentes estrategias</vt:lpstr>
      <vt:lpstr>Diferentes estrategias</vt:lpstr>
      <vt:lpstr>Diferentes estrategias</vt:lpstr>
      <vt:lpstr>Diferentes estrategias</vt:lpstr>
      <vt:lpstr>Presentación de PowerPoint</vt:lpstr>
      <vt:lpstr>Presentación de PowerPoint</vt:lpstr>
      <vt:lpstr>Presentación de PowerPoint</vt:lpstr>
      <vt:lpstr>Presentación de PowerPoint</vt:lpstr>
      <vt:lpstr>La entropía de la distribución</vt:lpstr>
      <vt:lpstr>La entropía de la distribución</vt:lpstr>
      <vt:lpstr>Presentación de PowerPoint</vt:lpstr>
      <vt:lpstr>Aplicaciones famosas</vt:lpstr>
      <vt:lpstr>Aplicaciones famosas</vt:lpstr>
      <vt:lpstr>Próxima clase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2: Clasificación poblacional</dc:title>
  <dc:creator>Hector Najera</dc:creator>
  <cp:lastModifiedBy>Hector Najera</cp:lastModifiedBy>
  <cp:revision>75</cp:revision>
  <dcterms:created xsi:type="dcterms:W3CDTF">2020-02-11T16:18:29Z</dcterms:created>
  <dcterms:modified xsi:type="dcterms:W3CDTF">2020-02-26T16:16:50Z</dcterms:modified>
</cp:coreProperties>
</file>