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58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Najera" userId="04fbcd51e4148ba7" providerId="LiveId" clId="{E6422DE0-C23E-4CCC-B787-79A2DF1907DD}"/>
    <pc:docChg chg="custSel modSld">
      <pc:chgData name="Hector Najera" userId="04fbcd51e4148ba7" providerId="LiveId" clId="{E6422DE0-C23E-4CCC-B787-79A2DF1907DD}" dt="2020-01-29T19:28:56.406" v="126"/>
      <pc:docMkLst>
        <pc:docMk/>
      </pc:docMkLst>
      <pc:sldChg chg="modSp">
        <pc:chgData name="Hector Najera" userId="04fbcd51e4148ba7" providerId="LiveId" clId="{E6422DE0-C23E-4CCC-B787-79A2DF1907DD}" dt="2020-01-29T19:28:56.406" v="126"/>
        <pc:sldMkLst>
          <pc:docMk/>
          <pc:sldMk cId="2336361387" sldId="257"/>
        </pc:sldMkLst>
        <pc:spChg chg="mod">
          <ac:chgData name="Hector Najera" userId="04fbcd51e4148ba7" providerId="LiveId" clId="{E6422DE0-C23E-4CCC-B787-79A2DF1907DD}" dt="2020-01-29T19:28:56.406" v="126"/>
          <ac:spMkLst>
            <pc:docMk/>
            <pc:sldMk cId="2336361387" sldId="257"/>
            <ac:spMk id="3" creationId="{00000000-0000-0000-0000-000000000000}"/>
          </ac:spMkLst>
        </pc:spChg>
      </pc:sldChg>
      <pc:sldChg chg="modSp modAnim">
        <pc:chgData name="Hector Najera" userId="04fbcd51e4148ba7" providerId="LiveId" clId="{E6422DE0-C23E-4CCC-B787-79A2DF1907DD}" dt="2020-01-29T19:27:35.525" v="117" actId="20577"/>
        <pc:sldMkLst>
          <pc:docMk/>
          <pc:sldMk cId="1478437913" sldId="259"/>
        </pc:sldMkLst>
        <pc:spChg chg="mod">
          <ac:chgData name="Hector Najera" userId="04fbcd51e4148ba7" providerId="LiveId" clId="{E6422DE0-C23E-4CCC-B787-79A2DF1907DD}" dt="2020-01-29T19:27:35.525" v="117" actId="20577"/>
          <ac:spMkLst>
            <pc:docMk/>
            <pc:sldMk cId="1478437913" sldId="259"/>
            <ac:spMk id="3" creationId="{41B6AEF2-1DC6-41C0-96B9-AA46693CEDC4}"/>
          </ac:spMkLst>
        </pc:spChg>
      </pc:sldChg>
      <pc:sldChg chg="modAnim">
        <pc:chgData name="Hector Najera" userId="04fbcd51e4148ba7" providerId="LiveId" clId="{E6422DE0-C23E-4CCC-B787-79A2DF1907DD}" dt="2020-01-29T19:28:34.533" v="119"/>
        <pc:sldMkLst>
          <pc:docMk/>
          <pc:sldMk cId="1461092527" sldId="260"/>
        </pc:sldMkLst>
      </pc:sldChg>
      <pc:sldChg chg="modAnim">
        <pc:chgData name="Hector Najera" userId="04fbcd51e4148ba7" providerId="LiveId" clId="{E6422DE0-C23E-4CCC-B787-79A2DF1907DD}" dt="2020-01-29T19:28:41.144" v="121"/>
        <pc:sldMkLst>
          <pc:docMk/>
          <pc:sldMk cId="1254804144" sldId="262"/>
        </pc:sldMkLst>
      </pc:sldChg>
      <pc:sldChg chg="modAnim">
        <pc:chgData name="Hector Najera" userId="04fbcd51e4148ba7" providerId="LiveId" clId="{E6422DE0-C23E-4CCC-B787-79A2DF1907DD}" dt="2020-01-29T19:28:44.821" v="123"/>
        <pc:sldMkLst>
          <pc:docMk/>
          <pc:sldMk cId="2918038716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 rotWithShape="1">
          <a:blip r:embed="rId2"/>
          <a:srcRect l="387" t="1" r="-1" b="1130"/>
          <a:stretch/>
        </p:blipFill>
        <p:spPr>
          <a:xfrm>
            <a:off x="2" y="1"/>
            <a:ext cx="12207805" cy="68665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4300483"/>
            <a:ext cx="8534400" cy="1338317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57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575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144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876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25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75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3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143510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6733" y="1435101"/>
            <a:ext cx="6815667" cy="46910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01" y="2597151"/>
            <a:ext cx="4011084" cy="35290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912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498512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11200" y="1553686"/>
            <a:ext cx="7315200" cy="3431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00683" y="1553687"/>
            <a:ext cx="3658932" cy="317388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032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953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1374427"/>
            <a:ext cx="2743200" cy="475173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374427"/>
            <a:ext cx="8026400" cy="4751736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900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54400" y="274639"/>
            <a:ext cx="8128000" cy="782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B83AC-891D-8147-800E-9455D2F3A257}" type="datetimeFigureOut">
              <a:rPr lang="es-ES" smtClean="0"/>
              <a:t>29/01/2020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62B8E-B4DF-6542-83AB-0C16BADF9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095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scholar?cites=4952979361595462781&amp;as_sdt=2005&amp;sciodt=0,5&amp;hl=es" TargetMode="External"/><Relationship Id="rId2" Type="http://schemas.openxmlformats.org/officeDocument/2006/relationships/hyperlink" Target="https://scholar.google.com/scholar?cites=8198409872678237188&amp;as_sdt=2005&amp;sciodt=0,5&amp;hl=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3400" y="2116646"/>
            <a:ext cx="8024091" cy="1932840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Comparabilidad en medición social: modelos avanzados de ecuaciones estructurales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95600" y="4480097"/>
            <a:ext cx="6400800" cy="1338317"/>
          </a:xfrm>
        </p:spPr>
        <p:txBody>
          <a:bodyPr/>
          <a:lstStyle/>
          <a:p>
            <a:r>
              <a:rPr lang="es-MX" dirty="0"/>
              <a:t>Dr. Curtis </a:t>
            </a:r>
            <a:r>
              <a:rPr lang="es-MX" dirty="0" err="1"/>
              <a:t>Huffman</a:t>
            </a:r>
            <a:endParaRPr lang="es-MX" dirty="0"/>
          </a:p>
          <a:p>
            <a:r>
              <a:rPr lang="es-MX" dirty="0"/>
              <a:t>Dr. Héctor Nájera</a:t>
            </a:r>
          </a:p>
          <a:p>
            <a:endParaRPr lang="es-MX" dirty="0"/>
          </a:p>
          <a:p>
            <a:endParaRPr lang="es-ES" dirty="0"/>
          </a:p>
        </p:txBody>
      </p:sp>
      <p:grpSp>
        <p:nvGrpSpPr>
          <p:cNvPr id="4" name="Grupo 3"/>
          <p:cNvGrpSpPr/>
          <p:nvPr/>
        </p:nvGrpSpPr>
        <p:grpSpPr>
          <a:xfrm>
            <a:off x="3356101" y="313620"/>
            <a:ext cx="3842080" cy="1223823"/>
            <a:chOff x="3116137" y="270503"/>
            <a:chExt cx="3842080" cy="1223823"/>
          </a:xfrm>
        </p:grpSpPr>
        <p:pic>
          <p:nvPicPr>
            <p:cNvPr id="5" name="Picture 14" descr="Resultado de imagen para economia unam"/>
            <p:cNvPicPr>
              <a:picLocks noChangeAspect="1" noChangeArrowheads="1"/>
            </p:cNvPicPr>
            <p:nvPr/>
          </p:nvPicPr>
          <p:blipFill>
            <a:blip r:embed="rId2" cstate="hq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751" y="270503"/>
              <a:ext cx="953466" cy="1124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6" descr="Resultado de imagen para posgrado unam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detail="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120"/>
            <a:stretch/>
          </p:blipFill>
          <p:spPr bwMode="auto">
            <a:xfrm>
              <a:off x="3116137" y="270503"/>
              <a:ext cx="2769345" cy="12238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477" y="5638799"/>
            <a:ext cx="1463040" cy="125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361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95BB7-DE35-42B9-B058-91784CD0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B6AEF2-1DC6-41C0-96B9-AA46693CE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validez externa se da por sentado: Si alguien validó algo en NY creemos que sirve donde sea!</a:t>
            </a:r>
          </a:p>
          <a:p>
            <a:r>
              <a:rPr lang="es-MX" dirty="0"/>
              <a:t>Siempre queremos comparar y lo hacemos… aunque no siempre se puede</a:t>
            </a:r>
          </a:p>
          <a:p>
            <a:r>
              <a:rPr lang="es-MX" dirty="0"/>
              <a:t>La comparabilidad, generalmente, no es un asunto de conteo sino de modelos de medición</a:t>
            </a:r>
          </a:p>
          <a:p>
            <a:r>
              <a:rPr lang="es-MX" dirty="0"/>
              <a:t>¿Puedo comparar bienestar en México y Argentina?</a:t>
            </a:r>
          </a:p>
          <a:p>
            <a:r>
              <a:rPr lang="es-MX" dirty="0"/>
              <a:t>¿Puedo comparar estudiantes del curso de SEM?</a:t>
            </a:r>
          </a:p>
        </p:txBody>
      </p:sp>
    </p:spTree>
    <p:extLst>
      <p:ext uri="{BB962C8B-B14F-4D97-AF65-F5344CB8AC3E}">
        <p14:creationId xmlns:p14="http://schemas.microsoft.com/office/powerpoint/2010/main" val="147843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5812D-B42D-4BD0-A4EB-2019A179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CB9D88-041D-4585-9410-EF9E04CC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Durante años el tema permaneció en silencio y en círculos especializados en educación y psicometría</a:t>
            </a:r>
          </a:p>
          <a:p>
            <a:r>
              <a:rPr lang="es-MX" dirty="0"/>
              <a:t>Los métodos eran más bien oscuros y no había software para hacerlo</a:t>
            </a:r>
          </a:p>
          <a:p>
            <a:r>
              <a:rPr lang="es-MX" dirty="0"/>
              <a:t>La teoría y métodos de ecuaciones estructurales revolucionó el campo pero es bastante nuevo</a:t>
            </a:r>
          </a:p>
        </p:txBody>
      </p:sp>
    </p:spTree>
    <p:extLst>
      <p:ext uri="{BB962C8B-B14F-4D97-AF65-F5344CB8AC3E}">
        <p14:creationId xmlns:p14="http://schemas.microsoft.com/office/powerpoint/2010/main" val="146109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9FB64-BF3F-424B-8E92-CE644FD0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81BD19-B6E6-49DE-877B-EC4E72DBE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objetivo del curso es introducir teoría, métodos y paquetería estadística de punta en teoría de la medición para aquilatar el resultado de comparar medidas de conceptos abstractos en ciencias sociales. 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276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A0CF1-EC9B-4E3A-BEFA-233307B7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Objetivos particulares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4ABA8B-9522-490E-A1EF-DBA1CB8C0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s-MX" dirty="0"/>
              <a:t>Introducir a los estudiantes al uso del modelaje de ecuaciones estructurales en el análisis de clases latentes (LCA) e invarianza factorial.</a:t>
            </a:r>
          </a:p>
          <a:p>
            <a:pPr lvl="0"/>
            <a:r>
              <a:rPr lang="es-MX" dirty="0"/>
              <a:t>Actualizar el conocimiento de los estudiantes con los nuevos desarrollos en ecuaciones estructurales.</a:t>
            </a:r>
          </a:p>
          <a:p>
            <a:pPr lvl="0"/>
            <a:r>
              <a:rPr lang="es-MX" dirty="0"/>
              <a:t>Aumentar la empleabilidad de los estudiantes mediante el desarrollo de habilidades para el uso de paquetería estadística y datos nacionales. </a:t>
            </a:r>
          </a:p>
          <a:p>
            <a:pPr lvl="0"/>
            <a:r>
              <a:rPr lang="es-MX" dirty="0"/>
              <a:t>Desarrollar la capacidad analítica y crítica de los estudiantes en torno a las prácticas actuales de medición en México y el mundo.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5480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D34F-8BF0-4C2F-A06D-AAC772D1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2304D0-8C0E-4336-AEBE-AAE1B2D79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s-MX" dirty="0"/>
              <a:t>Análisis de clases latentes</a:t>
            </a:r>
          </a:p>
          <a:p>
            <a:pPr marL="0" indent="0">
              <a:buNone/>
            </a:pPr>
            <a:r>
              <a:rPr lang="es-MX" dirty="0"/>
              <a:t>- ¿Cuántos grupos hay y cómo se componen?</a:t>
            </a:r>
          </a:p>
          <a:p>
            <a:pPr marL="0" indent="0">
              <a:buNone/>
            </a:pPr>
            <a:r>
              <a:rPr lang="es-MX" dirty="0"/>
              <a:t>2. Invarianza factorial (Meredith: </a:t>
            </a:r>
            <a:r>
              <a:rPr lang="es-MX" dirty="0">
                <a:hlinkClick r:id="rId2"/>
              </a:rPr>
              <a:t>3466</a:t>
            </a:r>
            <a:r>
              <a:rPr lang="es-MX" dirty="0"/>
              <a:t>; Cheung et al. </a:t>
            </a:r>
            <a:r>
              <a:rPr lang="es-MX" dirty="0">
                <a:hlinkClick r:id="rId3"/>
              </a:rPr>
              <a:t>9213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- ¿Mido lo mismo en el tiempo?</a:t>
            </a:r>
          </a:p>
          <a:p>
            <a:pPr marL="0" indent="0">
              <a:buNone/>
            </a:pPr>
            <a:r>
              <a:rPr lang="pt-BR" dirty="0"/>
              <a:t>3. </a:t>
            </a:r>
            <a:r>
              <a:rPr lang="pt-BR" dirty="0" err="1"/>
              <a:t>Igualación</a:t>
            </a:r>
            <a:r>
              <a:rPr lang="pt-BR" dirty="0"/>
              <a:t> de medidas</a:t>
            </a:r>
          </a:p>
          <a:p>
            <a:pPr marL="0" indent="0">
              <a:buNone/>
            </a:pPr>
            <a:r>
              <a:rPr lang="pt-BR" dirty="0"/>
              <a:t>- ¿Es mi score de 6 igual a 9.9?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1803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CONTACTO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idx="1"/>
          </p:nvPr>
        </p:nvSpPr>
        <p:spPr>
          <a:xfrm>
            <a:off x="1926771" y="1543050"/>
            <a:ext cx="8229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MX" sz="2400" dirty="0"/>
              <a:t>Dr. Héctor Nájera y Dr. Curtis Huffman</a:t>
            </a:r>
            <a:br>
              <a:rPr lang="es-MX" sz="2400" dirty="0"/>
            </a:br>
            <a:r>
              <a:rPr lang="es-MX" sz="2400" dirty="0"/>
              <a:t>Investigadores</a:t>
            </a:r>
            <a:br>
              <a:rPr lang="es-MX" sz="2800" dirty="0"/>
            </a:br>
            <a:endParaRPr lang="es-MX" sz="2400" dirty="0"/>
          </a:p>
          <a:p>
            <a:pPr marL="0" indent="0">
              <a:spcBef>
                <a:spcPts val="0"/>
              </a:spcBef>
              <a:buNone/>
            </a:pPr>
            <a:r>
              <a:rPr lang="es-MX" sz="2400" dirty="0"/>
              <a:t>Programa Universitario de Estudios del Desarrollo (PUED)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sz="2400" dirty="0"/>
              <a:t>Universidad Nacional Autónoma de México (UNAM)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sz="2400" dirty="0"/>
              <a:t>Antigua Unidad de Posgrado (costado sur de la Torre II de Humanidades), planta baja.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sz="2400" dirty="0"/>
              <a:t>Campus Central, Ciudad Universitaria, Ciudad de México, México.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sz="2400" dirty="0"/>
              <a:t>Tel. (+52) 55 5623 0222, Ext. 82613 y 82616</a:t>
            </a:r>
            <a:br>
              <a:rPr lang="es-MX" sz="2400" dirty="0"/>
            </a:br>
            <a:endParaRPr lang="es-MX" sz="2400" dirty="0"/>
          </a:p>
          <a:p>
            <a:pPr marL="0" indent="0">
              <a:spcBef>
                <a:spcPts val="0"/>
              </a:spcBef>
              <a:buNone/>
            </a:pPr>
            <a:r>
              <a:rPr lang="es-MX" sz="2400" dirty="0"/>
              <a:t>Tel. (+52) 55 5622 0889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sz="2400" dirty="0"/>
              <a:t>Email:  </a:t>
            </a:r>
            <a:r>
              <a:rPr lang="es-MX" sz="2400" dirty="0">
                <a:solidFill>
                  <a:srgbClr val="0000FF"/>
                </a:solidFill>
              </a:rPr>
              <a:t>hecatalan@hotmail.com</a:t>
            </a:r>
            <a:r>
              <a:rPr lang="es-MX" sz="2400" dirty="0"/>
              <a:t>, </a:t>
            </a:r>
            <a:r>
              <a:rPr lang="es-MX" sz="2400" dirty="0">
                <a:solidFill>
                  <a:srgbClr val="0000FF"/>
                </a:solidFill>
              </a:rPr>
              <a:t>chuffman@colmex.mx</a:t>
            </a:r>
            <a:br>
              <a:rPr lang="es-MX" sz="2000" dirty="0"/>
            </a:br>
            <a:endParaRPr lang="es-MX" sz="2000" dirty="0"/>
          </a:p>
          <a:p>
            <a:pPr marL="0" indent="0">
              <a:buNone/>
            </a:pPr>
            <a:br>
              <a:rPr lang="es-MX" sz="2000" dirty="0"/>
            </a:br>
            <a:endParaRPr lang="es-MX" sz="2000" dirty="0"/>
          </a:p>
        </p:txBody>
      </p:sp>
      <p:pic>
        <p:nvPicPr>
          <p:cNvPr id="5" name="Picture 4" descr="Imagen relacionada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760" y="5832495"/>
            <a:ext cx="1097280" cy="94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03870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3115</TotalTime>
  <Words>400</Words>
  <Application>Microsoft Office PowerPoint</Application>
  <PresentationFormat>Panorámica</PresentationFormat>
  <Paragraphs>37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1_Tema de Office</vt:lpstr>
      <vt:lpstr>Comparabilidad en medición social: modelos avanzados de ecuaciones estructurales</vt:lpstr>
      <vt:lpstr>¿Por qué?</vt:lpstr>
      <vt:lpstr>Contexto</vt:lpstr>
      <vt:lpstr>Objetivo</vt:lpstr>
      <vt:lpstr>Objetivos particulares</vt:lpstr>
      <vt:lpstr>Contenidos</vt:lpstr>
      <vt:lpstr>CONTACTO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7: Estimadores de confiabilidad, α (alfa), β (beta) y ω (omega) en clave de SEM</dc:title>
  <dc:creator>Hector Najera</dc:creator>
  <cp:lastModifiedBy>Hector Najera</cp:lastModifiedBy>
  <cp:revision>106</cp:revision>
  <dcterms:created xsi:type="dcterms:W3CDTF">2019-09-17T15:46:20Z</dcterms:created>
  <dcterms:modified xsi:type="dcterms:W3CDTF">2020-01-29T19:29:54Z</dcterms:modified>
</cp:coreProperties>
</file>